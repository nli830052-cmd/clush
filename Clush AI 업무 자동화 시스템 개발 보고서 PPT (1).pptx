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6.png"/><Relationship Id="rId4" Type="http://schemas.openxmlformats.org/officeDocument/2006/relationships/image" Target="../media/image21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30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Relationship Id="rId10" Type="http://schemas.openxmlformats.org/officeDocument/2006/relationships/image" Target="../media/image4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4d9f26-d157-4cec-a799-3897eb76c6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812800"/>
            <a:ext cx="2286000" cy="635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309600" y="1003300"/>
            <a:ext cx="2260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0">
                <a:solidFill>
                  <a:srgbClr val="9CA3AF"/>
                </a:solidFill>
                <a:latin typeface="Noto Sans KR"/>
              </a:defRPr>
            </a:pPr>
            <a:r>
              <a:rPr i="0" sz="1400" b="0">
                <a:solidFill>
                  <a:srgbClr val="9CA3AF"/>
                </a:solidFill>
                <a:latin typeface="Noto Sans KR"/>
              </a:rPr>
              <a:t>AI Work Assistant Project</a:t>
            </a:r>
          </a:p>
        </p:txBody>
      </p:sp>
      <p:pic>
        <p:nvPicPr>
          <p:cNvPr id="4" name="Picture 3" descr="f2239639-e367-4466-8fbb-6e5808d695b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0" y="1143000"/>
            <a:ext cx="5080000" cy="5080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12800" y="2095500"/>
            <a:ext cx="1016000" cy="101600"/>
          </a:xfrm>
          <a:prstGeom prst="rect">
            <a:avLst/>
          </a:prstGeom>
          <a:solidFill>
            <a:srgbClr val="002D5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2800" y="2501900"/>
            <a:ext cx="147574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800" b="0">
                <a:solidFill>
                  <a:srgbClr val="4A4A4A"/>
                </a:solidFill>
                <a:latin typeface="Noto Sans KR"/>
              </a:defRPr>
            </a:pPr>
            <a:r>
              <a:rPr i="0" sz="2800" b="0">
                <a:solidFill>
                  <a:srgbClr val="4A4A4A"/>
                </a:solidFill>
                <a:latin typeface="Noto Sans KR"/>
              </a:rPr>
              <a:t>AI가 혁신하는 실무 업무 자동화, Clush의 기술적 진화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3136900"/>
            <a:ext cx="7683500" cy="116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5900" b="1">
                <a:solidFill>
                  <a:srgbClr val="1A1A1A"/>
                </a:solidFill>
                <a:latin typeface="Noto Sans KR"/>
              </a:rPr>
              <a:t>Clush: </a:t>
            </a:r>
            <a:r>
              <a:rPr i="0" sz="5900" b="1">
                <a:solidFill>
                  <a:srgbClr val="002D5D"/>
                </a:solidFill>
                <a:latin typeface="Noto Sans KR"/>
              </a:rPr>
              <a:t>AI 업무 자동화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4114800"/>
            <a:ext cx="6400800" cy="116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5900" b="1">
                <a:solidFill>
                  <a:srgbClr val="1A1A1A"/>
                </a:solidFill>
                <a:latin typeface="Noto Sans KR"/>
              </a:rPr>
              <a:t>시스템 개발 보고서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5575300"/>
            <a:ext cx="5207000" cy="368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2000" b="0">
                <a:solidFill>
                  <a:srgbClr val="4B5563"/>
                </a:solidFill>
                <a:latin typeface="Noto Sans KR"/>
              </a:rPr>
              <a:t>업무를 혁신하는 Clush의 </a:t>
            </a:r>
            <a:r>
              <a:rPr i="0" sz="2000" b="1">
                <a:solidFill>
                  <a:srgbClr val="4B5563"/>
                </a:solidFill>
                <a:latin typeface="Noto Sans KR"/>
              </a:rPr>
              <a:t>AI 기반 자동화 솔루션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800" y="6045200"/>
            <a:ext cx="14630400" cy="9271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81000" bIns="0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12800" y="6045200"/>
            <a:ext cx="14630400" cy="0"/>
          </a:xfrm>
          <a:prstGeom prst="line">
            <a:avLst/>
          </a:prstGeom>
          <a:ln w="12700">
            <a:solidFill>
              <a:srgbClr val="F3F4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2800" y="6464300"/>
            <a:ext cx="35941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9CA3AF"/>
                </a:solidFill>
                <a:latin typeface="Noto Sans KR"/>
              </a:defRPr>
            </a:pPr>
            <a:r>
              <a:rPr i="0" sz="1200" b="1">
                <a:solidFill>
                  <a:srgbClr val="9CA3AF"/>
                </a:solidFill>
                <a:latin typeface="Noto Sans KR"/>
              </a:rPr>
              <a:t>PROJECT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6718300"/>
            <a:ext cx="35941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0">
                <a:solidFill>
                  <a:srgbClr val="374151"/>
                </a:solidFill>
                <a:latin typeface="Noto Sans KR"/>
              </a:defRPr>
            </a:pPr>
            <a:r>
              <a:rPr i="0" sz="1400" b="0">
                <a:solidFill>
                  <a:srgbClr val="374151"/>
                </a:solidFill>
                <a:latin typeface="Noto Sans KR"/>
              </a:rPr>
              <a:t>AI Work Assistant 프로젝트 개요와 핵심 동기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8128000"/>
            <a:ext cx="10922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9CA3AF"/>
                </a:solidFill>
                <a:latin typeface="Noto Sans KR"/>
              </a:defRPr>
            </a:pPr>
            <a:r>
              <a:rPr i="0" sz="1200" b="1">
                <a:solidFill>
                  <a:srgbClr val="9CA3AF"/>
                </a:solidFill>
                <a:latin typeface="Noto Sans KR"/>
              </a:rPr>
              <a:t>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8128000"/>
            <a:ext cx="14859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9CA3AF"/>
                </a:solidFill>
                <a:latin typeface="Noto Sans KR"/>
              </a:defRPr>
            </a:pPr>
            <a:r>
              <a:rPr i="0" sz="1200" b="1">
                <a:solidFill>
                  <a:srgbClr val="9CA3AF"/>
                </a:solidFill>
                <a:latin typeface="Noto Sans KR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43100" y="8229600"/>
            <a:ext cx="4953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defRPr i="0" sz="2400" b="1">
                <a:solidFill>
                  <a:srgbClr val="002D5D"/>
                </a:solidFill>
                <a:latin typeface="Noto Sans KR"/>
              </a:defRPr>
            </a:pPr>
            <a:r>
              <a:rPr i="0" sz="2400" b="1">
                <a:solidFill>
                  <a:srgbClr val="002D5D"/>
                </a:solidFill>
                <a:latin typeface="Noto Sans KR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13000" y="8305800"/>
            <a:ext cx="457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D1D5DB"/>
                </a:solidFill>
                <a:latin typeface="Noto Sans KR"/>
              </a:defRPr>
            </a:pPr>
            <a:r>
              <a:rPr i="0" sz="1400" b="1">
                <a:solidFill>
                  <a:srgbClr val="D1D5DB"/>
                </a:solidFill>
                <a:latin typeface="Noto Sans KR"/>
              </a:rPr>
              <a:t>/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8382000"/>
            <a:ext cx="1092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002D5D"/>
                </a:solidFill>
                <a:latin typeface="Noto Sans KR"/>
              </a:defRPr>
            </a:pPr>
            <a:r>
              <a:rPr i="0" sz="1400" b="1">
                <a:solidFill>
                  <a:srgbClr val="002D5D"/>
                </a:solidFill>
                <a:latin typeface="Noto Sans KR"/>
              </a:rPr>
              <a:t>2026-03-18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8382000"/>
            <a:ext cx="14859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002D5D"/>
                </a:solidFill>
                <a:latin typeface="Noto Sans KR"/>
              </a:defRPr>
            </a:pPr>
            <a:r>
              <a:rPr i="0" sz="1400" b="1">
                <a:solidFill>
                  <a:srgbClr val="002D5D"/>
                </a:solidFill>
                <a:latin typeface="Noto Sans KR"/>
              </a:rPr>
              <a:t>기술직 포트폴리오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6000" y="6858000"/>
            <a:ext cx="14224000" cy="2374900"/>
          </a:xfrm>
          <a:prstGeom prst="roundRect">
            <a:avLst>
              <a:gd name="adj" fmla="val 8556"/>
            </a:avLst>
          </a:prstGeom>
          <a:solidFill>
            <a:srgbClr val="F9FAF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0" rIns="381000" tIns="381000" bIns="3810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762000"/>
            <a:ext cx="7747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9CA3AF"/>
                </a:solidFill>
                <a:latin typeface="Noto Sans KR"/>
              </a:defRPr>
            </a:pPr>
            <a:r>
              <a:rPr i="0" sz="2000" b="1">
                <a:solidFill>
                  <a:srgbClr val="9CA3AF"/>
                </a:solidFill>
                <a:latin typeface="Noto Sans KR"/>
              </a:rPr>
              <a:t>클라우드, AI, 그리고 차별화된 엔터프라이즈 혁신</a:t>
            </a:r>
          </a:p>
        </p:txBody>
      </p:sp>
      <p:pic>
        <p:nvPicPr>
          <p:cNvPr id="4" name="Picture 3" descr="192013df-f8eb-46d1-bb2b-4ec32464e3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0" y="762000"/>
            <a:ext cx="2032000" cy="571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6000" y="1219200"/>
            <a:ext cx="7747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defRPr i="0" sz="4800" b="1">
                <a:solidFill>
                  <a:srgbClr val="002D5D"/>
                </a:solidFill>
                <a:latin typeface="Noto Sans KR"/>
              </a:defRPr>
            </a:pPr>
            <a:r>
              <a:rPr i="0" sz="4800" b="1">
                <a:solidFill>
                  <a:srgbClr val="002D5D"/>
                </a:solidFill>
                <a:latin typeface="Noto Sans KR"/>
              </a:rPr>
              <a:t>Clush 회사 소개 및 주요 사업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2184400"/>
            <a:ext cx="1016000" cy="101600"/>
          </a:xfrm>
          <a:prstGeom prst="rect">
            <a:avLst/>
          </a:prstGeom>
          <a:solidFill>
            <a:srgbClr val="002D5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16000" y="2819400"/>
            <a:ext cx="1092200" cy="304800"/>
          </a:xfrm>
          <a:prstGeom prst="roundRect">
            <a:avLst>
              <a:gd name="adj" fmla="val 16666"/>
            </a:avLst>
          </a:prstGeom>
          <a:solidFill>
            <a:srgbClr val="002D5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27000" tIns="25400" bIns="25400"/>
          <a:lstStyle/>
          <a:p>
            <a:pPr algn="l">
              <a:defRPr i="0" sz="1200" b="1">
                <a:solidFill>
                  <a:srgbClr val="FFFFFF"/>
                </a:solidFill>
                <a:latin typeface="Noto Sans KR"/>
              </a:defRPr>
            </a:pPr>
            <a:r>
              <a:rPr i="0" sz="1200" b="1">
                <a:solidFill>
                  <a:srgbClr val="FFFFFF"/>
                </a:solidFill>
                <a:latin typeface="Noto Sans KR"/>
              </a:rPr>
              <a:t>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0600" y="2806700"/>
            <a:ext cx="106553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800" b="0">
                <a:solidFill>
                  <a:srgbClr val="374151"/>
                </a:solidFill>
                <a:latin typeface="Noto Sans KR"/>
              </a:rPr>
              <a:t>2015년 설립 이후 </a:t>
            </a:r>
            <a:r>
              <a:rPr i="0" sz="1800" b="1">
                <a:solidFill>
                  <a:srgbClr val="374151"/>
                </a:solidFill>
                <a:latin typeface="Noto Sans KR"/>
              </a:rPr>
              <a:t>국내외 대기업 및 금융권</a:t>
            </a:r>
            <a:r>
              <a:rPr i="0" sz="1800" b="0">
                <a:solidFill>
                  <a:srgbClr val="374151"/>
                </a:solidFill>
                <a:latin typeface="Noto Sans KR"/>
              </a:rPr>
              <a:t>을 대상으로 독보적인 </a:t>
            </a:r>
            <a:r>
              <a:rPr i="0" sz="1800" b="1">
                <a:solidFill>
                  <a:srgbClr val="374151"/>
                </a:solidFill>
                <a:latin typeface="Noto Sans KR"/>
              </a:rPr>
              <a:t>기술 레퍼런스</a:t>
            </a:r>
            <a:r>
              <a:rPr i="0" sz="1800" b="0">
                <a:solidFill>
                  <a:srgbClr val="374151"/>
                </a:solidFill>
                <a:latin typeface="Noto Sans KR"/>
              </a:rPr>
              <a:t>를 구축해온 IT 전문 기업입니다.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000" y="3759200"/>
            <a:ext cx="3403600" cy="2489200"/>
          </a:xfrm>
          <a:prstGeom prst="roundRect">
            <a:avLst>
              <a:gd name="adj" fmla="val 6122"/>
            </a:avLst>
          </a:prstGeom>
          <a:noFill/>
          <a:ln w="12700">
            <a:solidFill>
              <a:srgbClr val="EDF2F7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9400" rIns="279400" tIns="279400" bIns="27940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22800" y="3759200"/>
            <a:ext cx="3403600" cy="2489200"/>
          </a:xfrm>
          <a:prstGeom prst="roundRect">
            <a:avLst>
              <a:gd name="adj" fmla="val 6122"/>
            </a:avLst>
          </a:prstGeom>
          <a:noFill/>
          <a:ln w="12700">
            <a:solidFill>
              <a:srgbClr val="EDF2F7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9400" rIns="279400" tIns="279400" bIns="279400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0" y="3759200"/>
            <a:ext cx="3403600" cy="2489200"/>
          </a:xfrm>
          <a:prstGeom prst="roundRect">
            <a:avLst>
              <a:gd name="adj" fmla="val 6122"/>
            </a:avLst>
          </a:prstGeom>
          <a:noFill/>
          <a:ln w="12700">
            <a:solidFill>
              <a:srgbClr val="EDF2F7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9400" rIns="279400" tIns="279400" bIns="279400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836400" y="3759200"/>
            <a:ext cx="3403600" cy="2489200"/>
          </a:xfrm>
          <a:prstGeom prst="roundRect">
            <a:avLst>
              <a:gd name="adj" fmla="val 6122"/>
            </a:avLst>
          </a:prstGeom>
          <a:noFill/>
          <a:ln w="12700">
            <a:solidFill>
              <a:srgbClr val="EDF2F7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9400" rIns="279400" tIns="279400" bIns="27940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33500" y="4076700"/>
            <a:ext cx="609600" cy="609600"/>
          </a:xfrm>
          <a:prstGeom prst="roundRect">
            <a:avLst>
              <a:gd name="adj" fmla="val 16666"/>
            </a:avLst>
          </a:prstGeom>
          <a:solidFill>
            <a:srgbClr val="EFF6FF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40300" y="4076700"/>
            <a:ext cx="609600" cy="609600"/>
          </a:xfrm>
          <a:prstGeom prst="roundRect">
            <a:avLst>
              <a:gd name="adj" fmla="val 16666"/>
            </a:avLst>
          </a:prstGeom>
          <a:solidFill>
            <a:srgbClr val="EFF6FF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47100" y="4076700"/>
            <a:ext cx="609600" cy="609600"/>
          </a:xfrm>
          <a:prstGeom prst="roundRect">
            <a:avLst>
              <a:gd name="adj" fmla="val 16666"/>
            </a:avLst>
          </a:prstGeom>
          <a:solidFill>
            <a:srgbClr val="EFF6FF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2153900" y="4076700"/>
            <a:ext cx="609600" cy="609600"/>
          </a:xfrm>
          <a:prstGeom prst="roundRect">
            <a:avLst>
              <a:gd name="adj" fmla="val 16666"/>
            </a:avLst>
          </a:prstGeom>
          <a:solidFill>
            <a:srgbClr val="EFF6FF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pic>
        <p:nvPicPr>
          <p:cNvPr id="17" name="Picture 16" descr="8e709898-de1c-4df8-b887-751ed740a4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4203700"/>
            <a:ext cx="317500" cy="355600"/>
          </a:xfrm>
          <a:prstGeom prst="rect">
            <a:avLst/>
          </a:prstGeom>
        </p:spPr>
      </p:pic>
      <p:pic>
        <p:nvPicPr>
          <p:cNvPr id="18" name="Picture 17" descr="87054e07-a320-4b41-8a2c-d20905550d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8100" y="4203700"/>
            <a:ext cx="254000" cy="355600"/>
          </a:xfrm>
          <a:prstGeom prst="rect">
            <a:avLst/>
          </a:prstGeom>
        </p:spPr>
      </p:pic>
      <p:pic>
        <p:nvPicPr>
          <p:cNvPr id="19" name="Picture 18" descr="e2eb05e6-6ccc-4acc-93df-b194cc3121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4203700"/>
            <a:ext cx="317500" cy="355600"/>
          </a:xfrm>
          <a:prstGeom prst="rect">
            <a:avLst/>
          </a:prstGeom>
        </p:spPr>
      </p:pic>
      <p:pic>
        <p:nvPicPr>
          <p:cNvPr id="20" name="Picture 19" descr="39c160dc-57cd-4f68-8fb2-6deb3390bd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1700" y="4203700"/>
            <a:ext cx="254000" cy="355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33500" y="4889500"/>
            <a:ext cx="28956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1">
                <a:solidFill>
                  <a:srgbClr val="002D5D"/>
                </a:solidFill>
                <a:latin typeface="Noto Sans KR"/>
              </a:defRPr>
            </a:pPr>
            <a:r>
              <a:rPr i="0" sz="1800" b="1">
                <a:solidFill>
                  <a:srgbClr val="002D5D"/>
                </a:solidFill>
                <a:latin typeface="Noto Sans KR"/>
              </a:rPr>
              <a:t>Cloud Native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40300" y="4889500"/>
            <a:ext cx="28956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1">
                <a:solidFill>
                  <a:srgbClr val="002D5D"/>
                </a:solidFill>
                <a:latin typeface="Noto Sans KR"/>
              </a:defRPr>
            </a:pPr>
            <a:r>
              <a:rPr i="0" sz="1800" b="1">
                <a:solidFill>
                  <a:srgbClr val="002D5D"/>
                </a:solidFill>
                <a:latin typeface="Noto Sans KR"/>
              </a:rPr>
              <a:t>AI &amp; 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7100" y="4889500"/>
            <a:ext cx="28956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1">
                <a:solidFill>
                  <a:srgbClr val="002D5D"/>
                </a:solidFill>
                <a:latin typeface="Noto Sans KR"/>
              </a:defRPr>
            </a:pPr>
            <a:r>
              <a:rPr i="0" sz="1800" b="1">
                <a:solidFill>
                  <a:srgbClr val="002D5D"/>
                </a:solidFill>
                <a:latin typeface="Noto Sans KR"/>
              </a:rPr>
              <a:t>Workspace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53900" y="4889500"/>
            <a:ext cx="28956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1">
                <a:solidFill>
                  <a:srgbClr val="002D5D"/>
                </a:solidFill>
                <a:latin typeface="Noto Sans KR"/>
              </a:defRPr>
            </a:pPr>
            <a:r>
              <a:rPr i="0" sz="1800" b="1">
                <a:solidFill>
                  <a:srgbClr val="002D5D"/>
                </a:solidFill>
                <a:latin typeface="Noto Sans KR"/>
              </a:rPr>
              <a:t>Security &amp;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5359400"/>
            <a:ext cx="2895600" cy="54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400" b="0">
                <a:solidFill>
                  <a:srgbClr val="4B5563"/>
                </a:solidFill>
                <a:latin typeface="Noto Sans KR"/>
              </a:rPr>
              <a:t>PaaS 기반 </a:t>
            </a:r>
            <a:r>
              <a:rPr i="0" sz="1400" b="1">
                <a:solidFill>
                  <a:srgbClr val="4B5563"/>
                </a:solidFill>
                <a:latin typeface="Noto Sans KR"/>
              </a:rPr>
              <a:t>Clush Kube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 플랫폼 및 클라우드 네이티브 애플리케이션 구축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40300" y="5359400"/>
            <a:ext cx="2870200" cy="54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i="0" sz="1400" b="1">
                <a:solidFill>
                  <a:srgbClr val="4B5563"/>
                </a:solidFill>
                <a:latin typeface="Noto Sans KR"/>
              </a:rPr>
              <a:t>Clush LLMOps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 및 데이터 통합 관리를 위한 </a:t>
            </a:r>
            <a:r>
              <a:rPr i="0" sz="1400" b="1">
                <a:solidFill>
                  <a:srgbClr val="4B5563"/>
                </a:solidFill>
                <a:latin typeface="Noto Sans KR"/>
              </a:rPr>
              <a:t>DataPortal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 제공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7100" y="5359400"/>
            <a:ext cx="2781300" cy="54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400" b="0">
                <a:solidFill>
                  <a:srgbClr val="4B5563"/>
                </a:solidFill>
                <a:latin typeface="Noto Sans KR"/>
              </a:rPr>
              <a:t>협업 효율 극대화를 위한 엔터프라이즈 </a:t>
            </a:r>
            <a:r>
              <a:rPr i="0" sz="1400" b="1">
                <a:solidFill>
                  <a:srgbClr val="4B5563"/>
                </a:solidFill>
                <a:latin typeface="Noto Sans KR"/>
              </a:rPr>
              <a:t>Clush WorkPlace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 솔루션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53900" y="5359400"/>
            <a:ext cx="2857500" cy="54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400" b="0">
                <a:solidFill>
                  <a:srgbClr val="4B5563"/>
                </a:solidFill>
                <a:latin typeface="Noto Sans KR"/>
              </a:rPr>
              <a:t>보안 컨설팅 기반의 </a:t>
            </a:r>
            <a:r>
              <a:rPr i="0" sz="1400" b="1">
                <a:solidFill>
                  <a:srgbClr val="4B5563"/>
                </a:solidFill>
                <a:latin typeface="Noto Sans KR"/>
              </a:rPr>
              <a:t>구독형 AI Agent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 최적화 아키텍처 구축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27200" y="7302500"/>
            <a:ext cx="17907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i="0" sz="1600" b="1">
                <a:solidFill>
                  <a:srgbClr val="002D5D"/>
                </a:solidFill>
                <a:latin typeface="Noto Sans KR"/>
              </a:defRPr>
            </a:pPr>
            <a:r>
              <a:rPr i="0" sz="1600" b="1">
                <a:solidFill>
                  <a:srgbClr val="002D5D"/>
                </a:solidFill>
                <a:latin typeface="Noto Sans KR"/>
              </a:rPr>
              <a:t>투자 및 성장 스토리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31200" y="7264400"/>
            <a:ext cx="6502400" cy="15621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0" tIns="0" bIns="0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8331200" y="7264400"/>
            <a:ext cx="0" cy="156210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dec487f4-7c3f-41d5-94c3-07106979975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0300" y="7315200"/>
            <a:ext cx="228600" cy="203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080500" y="7264400"/>
            <a:ext cx="16002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i="0" sz="1600" b="1">
                <a:solidFill>
                  <a:srgbClr val="002D5D"/>
                </a:solidFill>
                <a:latin typeface="Noto Sans KR"/>
              </a:defRPr>
            </a:pPr>
            <a:r>
              <a:rPr i="0" sz="1600" b="1">
                <a:solidFill>
                  <a:srgbClr val="002D5D"/>
                </a:solidFill>
                <a:latin typeface="Noto Sans KR"/>
              </a:rPr>
              <a:t>최근 실적 및 입지</a:t>
            </a:r>
          </a:p>
        </p:txBody>
      </p:sp>
      <p:pic>
        <p:nvPicPr>
          <p:cNvPr id="34" name="Picture 33" descr="3eba82f9-ac6b-43d7-9855-07c842b6061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2400" y="7353300"/>
            <a:ext cx="203200" cy="2032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422400" y="7835900"/>
            <a:ext cx="7366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1200" b="1">
                <a:solidFill>
                  <a:srgbClr val="002D5D"/>
                </a:solidFill>
                <a:latin typeface="Noto Sans KR"/>
              </a:defRPr>
            </a:pPr>
            <a:r>
              <a:rPr i="0" sz="1200" b="1">
                <a:solidFill>
                  <a:srgbClr val="002D5D"/>
                </a:solidFill>
                <a:latin typeface="Noto Sans KR"/>
              </a:rPr>
              <a:t>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84400" y="7810500"/>
            <a:ext cx="22479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400" b="0">
                <a:solidFill>
                  <a:srgbClr val="374151"/>
                </a:solidFill>
                <a:latin typeface="Noto Sans KR"/>
              </a:rPr>
              <a:t>프리IPO </a:t>
            </a:r>
            <a:r>
              <a:rPr i="0" sz="1400" b="1">
                <a:solidFill>
                  <a:srgbClr val="374151"/>
                </a:solidFill>
                <a:latin typeface="Noto Sans KR"/>
              </a:rPr>
              <a:t>380억 원</a:t>
            </a:r>
            <a:r>
              <a:rPr i="0" sz="1400" b="0">
                <a:solidFill>
                  <a:srgbClr val="374151"/>
                </a:solidFill>
                <a:latin typeface="Noto Sans KR"/>
              </a:rPr>
              <a:t> 조달 완료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50300" y="7785100"/>
            <a:ext cx="6070600" cy="54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400" b="0">
                <a:solidFill>
                  <a:srgbClr val="4B5563"/>
                </a:solidFill>
                <a:latin typeface="Noto Sans KR"/>
              </a:rPr>
              <a:t>대형 </a:t>
            </a:r>
            <a:r>
              <a:rPr i="0" sz="1400" b="1">
                <a:solidFill>
                  <a:srgbClr val="4B5563"/>
                </a:solidFill>
                <a:latin typeface="Noto Sans KR"/>
              </a:rPr>
              <a:t>금융권 및 제조 분야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 엔터프라이즈 프로젝트를 연속 수주하며 시장 내 지배력을 강화하고 있습니다.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22400" y="8191500"/>
            <a:ext cx="7366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1200" b="1">
                <a:solidFill>
                  <a:srgbClr val="002D5D"/>
                </a:solidFill>
                <a:latin typeface="Noto Sans KR"/>
              </a:defRPr>
            </a:pPr>
            <a:r>
              <a:rPr i="0" sz="1200" b="1">
                <a:solidFill>
                  <a:srgbClr val="002D5D"/>
                </a:solidFill>
                <a:latin typeface="Noto Sans KR"/>
              </a:rPr>
              <a:t>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84400" y="8166100"/>
            <a:ext cx="22733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400" b="0">
                <a:solidFill>
                  <a:srgbClr val="374151"/>
                </a:solidFill>
                <a:latin typeface="Noto Sans KR"/>
              </a:rPr>
              <a:t>시리즈 A </a:t>
            </a:r>
            <a:r>
              <a:rPr i="0" sz="1400" b="1">
                <a:solidFill>
                  <a:srgbClr val="374151"/>
                </a:solidFill>
                <a:latin typeface="Noto Sans KR"/>
              </a:rPr>
              <a:t>200억 원</a:t>
            </a:r>
            <a:r>
              <a:rPr i="0" sz="1400" b="0">
                <a:solidFill>
                  <a:srgbClr val="374151"/>
                </a:solidFill>
                <a:latin typeface="Noto Sans KR"/>
              </a:rPr>
              <a:t> 투자 유치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22400" y="8547100"/>
            <a:ext cx="7366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1200" b="1">
                <a:solidFill>
                  <a:srgbClr val="002D5D"/>
                </a:solidFill>
                <a:latin typeface="Noto Sans KR"/>
              </a:defRPr>
            </a:pPr>
            <a:r>
              <a:rPr i="0" sz="1200" b="1">
                <a:solidFill>
                  <a:srgbClr val="002D5D"/>
                </a:solidFill>
                <a:latin typeface="Noto Sans KR"/>
              </a:rPr>
              <a:t>Gov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84400" y="8521700"/>
            <a:ext cx="36957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1400" b="0">
                <a:solidFill>
                  <a:srgbClr val="374151"/>
                </a:solidFill>
                <a:latin typeface="Noto Sans KR"/>
              </a:defRPr>
            </a:pPr>
            <a:r>
              <a:rPr i="0" sz="1400" b="0">
                <a:solidFill>
                  <a:srgbClr val="374151"/>
                </a:solidFill>
                <a:latin typeface="Noto Sans KR"/>
              </a:rPr>
              <a:t>국가AI센터 컨소시엄 참여를 통한 공공 혁신 주도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50300" y="8496300"/>
            <a:ext cx="1625600" cy="317500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002D5D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l">
              <a:defRPr i="0" sz="1000" b="1">
                <a:solidFill>
                  <a:srgbClr val="002D5D"/>
                </a:solidFill>
                <a:latin typeface="Noto Sans KR"/>
              </a:defRPr>
            </a:pPr>
            <a:r>
              <a:rPr i="0" sz="1000" b="1">
                <a:solidFill>
                  <a:srgbClr val="002D5D"/>
                </a:solidFill>
                <a:latin typeface="Noto Sans KR"/>
              </a:rPr>
              <a:t>국내 엔터프라이즈 AI 선도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477500" y="8496300"/>
            <a:ext cx="1574800" cy="317500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002D5D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l">
              <a:defRPr i="0" sz="1000" b="1">
                <a:solidFill>
                  <a:srgbClr val="002D5D"/>
                </a:solidFill>
                <a:latin typeface="Noto Sans KR"/>
              </a:defRPr>
            </a:pPr>
            <a:r>
              <a:rPr i="0" sz="1000" b="1">
                <a:solidFill>
                  <a:srgbClr val="002D5D"/>
                </a:solidFill>
                <a:latin typeface="Noto Sans KR"/>
              </a:rPr>
              <a:t>차세대 PaaS 기술력 확보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2800" y="9728200"/>
            <a:ext cx="10922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9CA3AF"/>
                </a:solidFill>
                <a:latin typeface="Noto Sans KR"/>
              </a:defRPr>
            </a:pPr>
            <a:r>
              <a:rPr i="0" sz="1200" b="1">
                <a:solidFill>
                  <a:srgbClr val="9CA3AF"/>
                </a:solidFill>
                <a:latin typeface="Noto Sans KR"/>
              </a:rPr>
              <a:t>DATE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0" y="9728200"/>
            <a:ext cx="14859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9CA3AF"/>
                </a:solidFill>
                <a:latin typeface="Noto Sans KR"/>
              </a:defRPr>
            </a:pPr>
            <a:r>
              <a:rPr i="0" sz="1200" b="1">
                <a:solidFill>
                  <a:srgbClr val="9CA3AF"/>
                </a:solidFill>
                <a:latin typeface="Noto Sans KR"/>
              </a:rPr>
              <a:t>TARGET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43100" y="9829800"/>
            <a:ext cx="4953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defRPr i="0" sz="2400" b="1">
                <a:solidFill>
                  <a:srgbClr val="002D5D"/>
                </a:solidFill>
                <a:latin typeface="Noto Sans KR"/>
              </a:defRPr>
            </a:pPr>
            <a:r>
              <a:rPr i="0" sz="2400" b="1">
                <a:solidFill>
                  <a:srgbClr val="002D5D"/>
                </a:solidFill>
                <a:latin typeface="Noto Sans KR"/>
              </a:rPr>
              <a:t>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113000" y="9906000"/>
            <a:ext cx="457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D1D5DB"/>
                </a:solidFill>
                <a:latin typeface="Noto Sans KR"/>
              </a:defRPr>
            </a:pPr>
            <a:r>
              <a:rPr i="0" sz="1400" b="1">
                <a:solidFill>
                  <a:srgbClr val="D1D5DB"/>
                </a:solidFill>
                <a:latin typeface="Noto Sans KR"/>
              </a:rPr>
              <a:t>/ 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2800" y="9982200"/>
            <a:ext cx="1092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002D5D"/>
                </a:solidFill>
                <a:latin typeface="Noto Sans KR"/>
              </a:defRPr>
            </a:pPr>
            <a:r>
              <a:rPr i="0" sz="1400" b="1">
                <a:solidFill>
                  <a:srgbClr val="002D5D"/>
                </a:solidFill>
                <a:latin typeface="Noto Sans KR"/>
              </a:rPr>
              <a:t>2026-03-18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86000" y="9982200"/>
            <a:ext cx="14859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002D5D"/>
                </a:solidFill>
                <a:latin typeface="Noto Sans KR"/>
              </a:defRPr>
            </a:pPr>
            <a:r>
              <a:rPr i="0" sz="1400" b="1">
                <a:solidFill>
                  <a:srgbClr val="002D5D"/>
                </a:solidFill>
                <a:latin typeface="Noto Sans KR"/>
              </a:rPr>
              <a:t>기술직 포트폴리오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762000"/>
            <a:ext cx="108966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9CA3AF"/>
                </a:solidFill>
                <a:latin typeface="Noto Sans KR"/>
              </a:defRPr>
            </a:pPr>
            <a:r>
              <a:rPr i="0" sz="2000" b="1">
                <a:solidFill>
                  <a:srgbClr val="9CA3AF"/>
                </a:solidFill>
                <a:latin typeface="Noto Sans KR"/>
              </a:rPr>
              <a:t>AI 업무 자동화 시스템: 개요 및 필요성</a:t>
            </a:r>
          </a:p>
        </p:txBody>
      </p:sp>
      <p:pic>
        <p:nvPicPr>
          <p:cNvPr id="3" name="Picture 2" descr="192013df-f8eb-46d1-bb2b-4ec32464e3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0" y="762000"/>
            <a:ext cx="2032000" cy="571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6000" y="1155700"/>
            <a:ext cx="10896600" cy="88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4800" b="1">
                <a:solidFill>
                  <a:srgbClr val="002D5D"/>
                </a:solidFill>
                <a:latin typeface="Noto Sans KR"/>
              </a:rPr>
              <a:t>반복과 수동의 업무, </a:t>
            </a:r>
            <a:r>
              <a:rPr i="0" sz="4800" b="1">
                <a:solidFill>
                  <a:srgbClr val="2563EB"/>
                </a:solidFill>
                <a:latin typeface="Noto Sans KR"/>
              </a:rPr>
              <a:t>AI Agent</a:t>
            </a:r>
            <a:r>
              <a:rPr i="0" sz="4800" b="1">
                <a:solidFill>
                  <a:srgbClr val="002D5D"/>
                </a:solidFill>
                <a:latin typeface="Noto Sans KR"/>
              </a:rPr>
              <a:t>로 혁신하다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6000" y="2184400"/>
            <a:ext cx="1016000" cy="101600"/>
          </a:xfrm>
          <a:prstGeom prst="rect">
            <a:avLst/>
          </a:prstGeom>
          <a:solidFill>
            <a:srgbClr val="002D5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6" name="Picture 5" descr="73889b66-1cc6-47f0-822c-5eeb4cc0f1d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692400"/>
            <a:ext cx="203200" cy="20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20800" y="2667000"/>
            <a:ext cx="2311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002D5D"/>
                </a:solidFill>
                <a:latin typeface="Noto Sans KR"/>
              </a:defRPr>
            </a:pPr>
            <a:r>
              <a:rPr i="0" sz="1400" b="1">
                <a:solidFill>
                  <a:srgbClr val="002D5D"/>
                </a:solidFill>
                <a:latin typeface="Noto Sans KR"/>
              </a:rPr>
              <a:t>CURRENT PAIN 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0400" y="2667000"/>
            <a:ext cx="5689600" cy="2819400"/>
          </a:xfrm>
          <a:prstGeom prst="roundRect">
            <a:avLst>
              <a:gd name="adj" fmla="val 7207"/>
            </a:avLst>
          </a:prstGeom>
          <a:noFill/>
          <a:ln w="12700">
            <a:solidFill>
              <a:srgbClr val="F3F4F6"/>
            </a:solidFill>
          </a:ln>
          <a:effectLst>
            <a:outerShdw blurRad="25400" dir="9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63100" y="2679700"/>
            <a:ext cx="5791200" cy="558800"/>
          </a:xfrm>
          <a:prstGeom prst="rect">
            <a:avLst/>
          </a:prstGeom>
          <a:solidFill>
            <a:srgbClr val="002D5D"/>
          </a:solidFill>
        </p:spPr>
        <p:txBody>
          <a:bodyPr wrap="square" lIns="127000" rIns="127000" tIns="127000" bIns="127000">
            <a:spAutoFit/>
          </a:bodyPr>
          <a:lstStyle/>
          <a:p>
            <a:pPr algn="ctr">
              <a:lnSpc>
                <a:spcPct val="113000"/>
              </a:lnSpc>
              <a:defRPr i="0" sz="1400" b="1">
                <a:solidFill>
                  <a:srgbClr val="FFFFFF"/>
                </a:solidFill>
                <a:latin typeface="Noto Sans KR"/>
              </a:defRPr>
            </a:pPr>
            <a:r>
              <a:rPr i="0" sz="1400" b="1">
                <a:solidFill>
                  <a:srgbClr val="FFFFFF"/>
                </a:solidFill>
                <a:latin typeface="Noto Sans KR"/>
              </a:rPr>
              <a:t>업무 방식의 전환 (Paradigm Shift)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6000" y="3225800"/>
            <a:ext cx="8128000" cy="1549400"/>
          </a:xfrm>
          <a:prstGeom prst="roundRect">
            <a:avLst>
              <a:gd name="adj" fmla="val 6557"/>
            </a:avLst>
          </a:prstGeom>
          <a:solidFill>
            <a:srgbClr val="F8FAFF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228600" tIns="228600" bIns="228600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016000" y="3225800"/>
            <a:ext cx="0" cy="1549400"/>
          </a:xfrm>
          <a:prstGeom prst="line">
            <a:avLst/>
          </a:prstGeom>
          <a:ln w="50800">
            <a:solidFill>
              <a:srgbClr val="002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320800" y="3479800"/>
            <a:ext cx="7696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1">
                <a:solidFill>
                  <a:srgbClr val="002D5D"/>
                </a:solidFill>
                <a:latin typeface="Noto Sans KR"/>
              </a:defRPr>
            </a:pPr>
            <a:r>
              <a:rPr i="0" sz="1800" b="1">
                <a:solidFill>
                  <a:srgbClr val="002D5D"/>
                </a:solidFill>
                <a:latin typeface="Noto Sans KR"/>
              </a:rPr>
              <a:t>기업 협업 환경의 고질적 비효율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67900" y="35433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79100" y="3581400"/>
            <a:ext cx="21336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000" b="1">
                <a:solidFill>
                  <a:srgbClr val="9CA3AF"/>
                </a:solidFill>
                <a:latin typeface="Noto Sans KR"/>
              </a:defRPr>
            </a:pPr>
            <a:r>
              <a:rPr i="0" sz="1000" b="1">
                <a:solidFill>
                  <a:srgbClr val="9CA3AF"/>
                </a:solidFill>
                <a:latin typeface="Noto Sans KR"/>
              </a:rPr>
              <a:t>AS-IS</a:t>
            </a:r>
          </a:p>
        </p:txBody>
      </p:sp>
      <p:pic>
        <p:nvPicPr>
          <p:cNvPr id="15" name="Picture 14" descr="dc8c9df2-7891-4bd7-a266-e70f7000e9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300" y="3695700"/>
            <a:ext cx="203200" cy="203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579100" y="3771900"/>
            <a:ext cx="2133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0">
                <a:solidFill>
                  <a:srgbClr val="9CA3AF"/>
                </a:solidFill>
                <a:latin typeface="Noto Sans KR"/>
              </a:defRPr>
            </a:pPr>
            <a:r>
              <a:rPr i="0" sz="1400" b="0">
                <a:solidFill>
                  <a:srgbClr val="9CA3AF"/>
                </a:solidFill>
                <a:latin typeface="Noto Sans KR"/>
              </a:rPr>
              <a:t>질문-답변 중심의 단순 챗봇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0800" y="3949700"/>
            <a:ext cx="7620000" cy="54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400" b="0">
                <a:solidFill>
                  <a:srgbClr val="4B5563"/>
                </a:solidFill>
                <a:latin typeface="Noto Sans KR"/>
              </a:rPr>
              <a:t>회의록 정리, 업무 분배, 공유 문서 작성 등 </a:t>
            </a:r>
            <a:r>
              <a:rPr i="0" sz="1400" b="1">
                <a:solidFill>
                  <a:srgbClr val="4B5563"/>
                </a:solidFill>
                <a:latin typeface="Noto Sans KR"/>
              </a:rPr>
              <a:t>단순 반복 업무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가 전체 업무 시간의 상당 부분을 점유하며 </a:t>
            </a:r>
            <a:r>
              <a:rPr i="0" sz="1400" b="1">
                <a:solidFill>
                  <a:srgbClr val="4B5563"/>
                </a:solidFill>
                <a:latin typeface="Noto Sans KR"/>
              </a:rPr>
              <a:t>업무 병목 현상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을 초래하고 있습니다.</a:t>
            </a:r>
          </a:p>
        </p:txBody>
      </p:sp>
      <p:pic>
        <p:nvPicPr>
          <p:cNvPr id="18" name="Picture 17" descr="8fee30cd-3332-4420-a06a-cdc24e6cf5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93600" y="4254500"/>
            <a:ext cx="203200" cy="2032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867900" y="46609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79100" y="4699000"/>
            <a:ext cx="19431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000" b="1">
                <a:solidFill>
                  <a:srgbClr val="002D5D"/>
                </a:solidFill>
                <a:latin typeface="Noto Sans KR"/>
              </a:defRPr>
            </a:pPr>
            <a:r>
              <a:rPr i="0" sz="1000" b="1">
                <a:solidFill>
                  <a:srgbClr val="002D5D"/>
                </a:solidFill>
                <a:latin typeface="Noto Sans KR"/>
              </a:rPr>
              <a:t>TO-BE</a:t>
            </a:r>
          </a:p>
        </p:txBody>
      </p:sp>
      <p:pic>
        <p:nvPicPr>
          <p:cNvPr id="21" name="Picture 20" descr="17c53478-fafb-4600-a03e-103c5c4997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4900" y="4813300"/>
            <a:ext cx="254000" cy="203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579100" y="4889500"/>
            <a:ext cx="19431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002D5D"/>
                </a:solidFill>
                <a:latin typeface="Noto Sans KR"/>
              </a:defRPr>
            </a:pPr>
            <a:r>
              <a:rPr i="0" sz="1400" b="1">
                <a:solidFill>
                  <a:srgbClr val="002D5D"/>
                </a:solidFill>
                <a:latin typeface="Noto Sans KR"/>
              </a:rPr>
              <a:t>실무 자동화형 AI Agent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6000" y="5080000"/>
            <a:ext cx="8128000" cy="1549400"/>
          </a:xfrm>
          <a:prstGeom prst="roundRect">
            <a:avLst>
              <a:gd name="adj" fmla="val 6557"/>
            </a:avLst>
          </a:prstGeom>
          <a:solidFill>
            <a:srgbClr val="F8FAFF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228600" tIns="228600" bIns="228600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1016000" y="5080000"/>
            <a:ext cx="0" cy="1549400"/>
          </a:xfrm>
          <a:prstGeom prst="line">
            <a:avLst/>
          </a:prstGeom>
          <a:ln w="50800">
            <a:solidFill>
              <a:srgbClr val="002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320800" y="5334000"/>
            <a:ext cx="7696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1">
                <a:solidFill>
                  <a:srgbClr val="002D5D"/>
                </a:solidFill>
                <a:latin typeface="Noto Sans KR"/>
              </a:defRPr>
            </a:pPr>
            <a:r>
              <a:rPr i="0" sz="1800" b="1">
                <a:solidFill>
                  <a:srgbClr val="002D5D"/>
                </a:solidFill>
                <a:latin typeface="Noto Sans KR"/>
              </a:rPr>
              <a:t>Clush WorkPlace 실무 분석 결과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0800" y="5803900"/>
            <a:ext cx="7683500" cy="54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400" b="0">
                <a:solidFill>
                  <a:srgbClr val="4B5563"/>
                </a:solidFill>
                <a:latin typeface="Noto Sans KR"/>
              </a:rPr>
              <a:t>담당자별 </a:t>
            </a:r>
            <a:r>
              <a:rPr i="0" sz="1400" b="1">
                <a:solidFill>
                  <a:srgbClr val="4B5563"/>
                </a:solidFill>
                <a:latin typeface="Noto Sans KR"/>
              </a:rPr>
              <a:t>할 일 배정 및 요약 공유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 단계가 대부분 </a:t>
            </a:r>
            <a:r>
              <a:rPr i="0" sz="1400" b="1">
                <a:solidFill>
                  <a:srgbClr val="4B5563"/>
                </a:solidFill>
                <a:latin typeface="Noto Sans KR"/>
              </a:rPr>
              <a:t>수동 처리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되고 있어, 정보 누락 및 커뮤니케이션 지연이 빈번하게 발생함을 확인했습니다.</a:t>
            </a:r>
          </a:p>
        </p:txBody>
      </p:sp>
      <p:pic>
        <p:nvPicPr>
          <p:cNvPr id="27" name="Picture 26" descr="7176cfd3-da1b-481e-9835-b938874dc3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0400" y="6172200"/>
            <a:ext cx="203200" cy="177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855200" y="6134100"/>
            <a:ext cx="19177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i="0" sz="1400" b="1">
                <a:solidFill>
                  <a:srgbClr val="002D5D"/>
                </a:solidFill>
                <a:latin typeface="Noto Sans KR"/>
              </a:defRPr>
            </a:pPr>
            <a:r>
              <a:rPr i="0" sz="1400" b="1">
                <a:solidFill>
                  <a:srgbClr val="002D5D"/>
                </a:solidFill>
                <a:latin typeface="Noto Sans KR"/>
              </a:rPr>
              <a:t>AI 자동화 도입 기대효과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50400" y="6591300"/>
            <a:ext cx="2768600" cy="876300"/>
          </a:xfrm>
          <a:prstGeom prst="roundRect">
            <a:avLst>
              <a:gd name="adj" fmla="val 11594"/>
            </a:avLst>
          </a:prstGeom>
          <a:solidFill>
            <a:srgbClr val="EFF6FF">
              <a:alpha val="50000"/>
            </a:srgbClr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27000" tIns="127000" bIns="127000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2471400" y="6591300"/>
            <a:ext cx="2768600" cy="876300"/>
          </a:xfrm>
          <a:prstGeom prst="roundRect">
            <a:avLst>
              <a:gd name="adj" fmla="val 11594"/>
            </a:avLst>
          </a:prstGeom>
          <a:solidFill>
            <a:srgbClr val="EFF6FF">
              <a:alpha val="50000"/>
            </a:srgbClr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27000" tIns="127000" bIns="127000"/>
          <a:lstStyle/>
          <a:p>
            <a:pPr algn="ctr"/>
          </a:p>
        </p:txBody>
      </p:sp>
      <p:pic>
        <p:nvPicPr>
          <p:cNvPr id="31" name="Picture 30" descr="55b008df-86c8-411f-ba22-7541dbb1517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45800" y="6807200"/>
            <a:ext cx="177800" cy="20320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1016000" y="6921500"/>
            <a:ext cx="8128000" cy="1574800"/>
          </a:xfrm>
          <a:prstGeom prst="roundRect">
            <a:avLst>
              <a:gd name="adj" fmla="val 9677"/>
            </a:avLst>
          </a:prstGeom>
          <a:solidFill>
            <a:srgbClr val="F9FAFB"/>
          </a:solidFill>
          <a:ln w="12700">
            <a:solidFill>
              <a:srgbClr val="F3F4F6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228600" tIns="228600" bIns="22860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02800" y="7112000"/>
            <a:ext cx="2590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200" b="1">
                <a:solidFill>
                  <a:srgbClr val="002D5D"/>
                </a:solidFill>
                <a:latin typeface="Noto Sans KR"/>
              </a:defRPr>
            </a:pPr>
            <a:r>
              <a:rPr i="0" sz="1200" b="1">
                <a:solidFill>
                  <a:srgbClr val="002D5D"/>
                </a:solidFill>
                <a:latin typeface="Noto Sans KR"/>
              </a:rPr>
              <a:t>생산성 극대화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23800" y="7048500"/>
            <a:ext cx="2590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200" b="1">
                <a:solidFill>
                  <a:srgbClr val="002D5D"/>
                </a:solidFill>
                <a:latin typeface="Noto Sans KR"/>
              </a:defRPr>
            </a:pPr>
            <a:r>
              <a:rPr i="0" sz="1200" b="1">
                <a:solidFill>
                  <a:srgbClr val="002D5D"/>
                </a:solidFill>
                <a:latin typeface="Noto Sans KR"/>
              </a:rPr>
              <a:t>오류·유실 최소화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83400" y="7188200"/>
            <a:ext cx="1993900" cy="342900"/>
          </a:xfrm>
          <a:prstGeom prst="roundRect">
            <a:avLst>
              <a:gd name="adj" fmla="val 288888"/>
            </a:avLst>
          </a:prstGeom>
          <a:solidFill>
            <a:srgbClr val="002D5D">
              <a:alpha val="5000"/>
            </a:srgbClr>
          </a:solidFill>
          <a:ln w="12700">
            <a:solidFill>
              <a:srgbClr val="002D5D">
                <a:alpha val="10000"/>
              </a:srgbClr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27000" tIns="25400" bIns="25400"/>
          <a:lstStyle/>
          <a:p>
            <a:pPr algn="l">
              <a:defRPr i="0" sz="1100" b="1">
                <a:solidFill>
                  <a:srgbClr val="002D5D"/>
                </a:solidFill>
                <a:latin typeface="Noto Sans KR"/>
              </a:defRPr>
            </a:pPr>
            <a:r>
              <a:rPr i="0" sz="1100" b="1">
                <a:solidFill>
                  <a:srgbClr val="002D5D"/>
                </a:solidFill>
                <a:latin typeface="Noto Sans KR"/>
              </a:rPr>
              <a:t>글로벌 자동화 솔루션 성장세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2700" y="7251700"/>
            <a:ext cx="13081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6B7280"/>
                </a:solidFill>
                <a:latin typeface="Noto Sans KR"/>
              </a:defRPr>
            </a:pPr>
            <a:r>
              <a:rPr i="0" sz="1200" b="1">
                <a:solidFill>
                  <a:srgbClr val="6B7280"/>
                </a:solidFill>
                <a:latin typeface="Noto Sans KR"/>
              </a:rPr>
              <a:t>MARKET TREND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50400" y="7620000"/>
            <a:ext cx="2768600" cy="876300"/>
          </a:xfrm>
          <a:prstGeom prst="roundRect">
            <a:avLst>
              <a:gd name="adj" fmla="val 11594"/>
            </a:avLst>
          </a:prstGeom>
          <a:solidFill>
            <a:srgbClr val="EFF6FF">
              <a:alpha val="50000"/>
            </a:srgbClr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27000" tIns="127000" bIns="127000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2471400" y="7620000"/>
            <a:ext cx="2768600" cy="876300"/>
          </a:xfrm>
          <a:prstGeom prst="roundRect">
            <a:avLst>
              <a:gd name="adj" fmla="val 11594"/>
            </a:avLst>
          </a:prstGeom>
          <a:solidFill>
            <a:srgbClr val="EFF6FF">
              <a:alpha val="50000"/>
            </a:srgbClr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27000" tIns="127000" bIns="12700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2700" y="7747000"/>
            <a:ext cx="7607300" cy="469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200" b="0">
                <a:solidFill>
                  <a:srgbClr val="6B7280"/>
                </a:solidFill>
                <a:latin typeface="Noto Sans KR"/>
              </a:rPr>
              <a:t>기존의 '단순 응답 챗봇' 시대를 넘어, 실질적인 워크플로우를 실행하고 의사결정을 지원하는 </a:t>
            </a:r>
            <a:r>
              <a:rPr i="0" sz="1200" b="1">
                <a:solidFill>
                  <a:srgbClr val="6B7280"/>
                </a:solidFill>
                <a:latin typeface="Noto Sans KR"/>
              </a:rPr>
              <a:t>실무형 AI Agent</a:t>
            </a:r>
            <a:r>
              <a:rPr i="0" sz="1200" b="0">
                <a:solidFill>
                  <a:srgbClr val="6B7280"/>
                </a:solidFill>
                <a:latin typeface="Noto Sans KR"/>
              </a:rPr>
              <a:t>로 시장의 패러다임이 전환되고 있습니다.</a:t>
            </a:r>
          </a:p>
        </p:txBody>
      </p:sp>
      <p:pic>
        <p:nvPicPr>
          <p:cNvPr id="40" name="Picture 39" descr="99071041-3381-4490-bdfb-fd53cd405da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07700" y="7835900"/>
            <a:ext cx="254000" cy="203200"/>
          </a:xfrm>
          <a:prstGeom prst="rect">
            <a:avLst/>
          </a:prstGeom>
        </p:spPr>
      </p:pic>
      <p:pic>
        <p:nvPicPr>
          <p:cNvPr id="41" name="Picture 40" descr="cb72de6c-e772-4a70-bba2-effc5e00705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741400" y="7835900"/>
            <a:ext cx="228600" cy="2032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702800" y="8140700"/>
            <a:ext cx="2590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200" b="1">
                <a:solidFill>
                  <a:srgbClr val="002D5D"/>
                </a:solidFill>
                <a:latin typeface="Noto Sans KR"/>
              </a:defRPr>
            </a:pPr>
            <a:r>
              <a:rPr i="0" sz="1200" b="1">
                <a:solidFill>
                  <a:srgbClr val="002D5D"/>
                </a:solidFill>
                <a:latin typeface="Noto Sans KR"/>
              </a:rPr>
              <a:t>협업 효율화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623800" y="8140700"/>
            <a:ext cx="2590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200" b="1">
                <a:solidFill>
                  <a:srgbClr val="002D5D"/>
                </a:solidFill>
                <a:latin typeface="Noto Sans KR"/>
              </a:defRPr>
            </a:pPr>
            <a:r>
              <a:rPr i="0" sz="1200" b="1">
                <a:solidFill>
                  <a:srgbClr val="002D5D"/>
                </a:solidFill>
                <a:latin typeface="Noto Sans KR"/>
              </a:rPr>
              <a:t>리소스 최적화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2800" y="9004300"/>
            <a:ext cx="10922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9CA3AF"/>
                </a:solidFill>
                <a:latin typeface="Noto Sans KR"/>
              </a:defRPr>
            </a:pPr>
            <a:r>
              <a:rPr i="0" sz="1200" b="1">
                <a:solidFill>
                  <a:srgbClr val="9CA3AF"/>
                </a:solidFill>
                <a:latin typeface="Noto Sans KR"/>
              </a:rPr>
              <a:t>DATE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0" y="9004300"/>
            <a:ext cx="1651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9CA3AF"/>
                </a:solidFill>
                <a:latin typeface="Noto Sans KR"/>
              </a:defRPr>
            </a:pPr>
            <a:r>
              <a:rPr i="0" sz="1200" b="1">
                <a:solidFill>
                  <a:srgbClr val="9CA3AF"/>
                </a:solidFill>
                <a:latin typeface="Noto Sans KR"/>
              </a:rPr>
              <a:t>SECTION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43100" y="9105900"/>
            <a:ext cx="4953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defRPr i="0" sz="2400" b="1">
                <a:solidFill>
                  <a:srgbClr val="002D5D"/>
                </a:solidFill>
                <a:latin typeface="Noto Sans KR"/>
              </a:defRPr>
            </a:pPr>
            <a:r>
              <a:rPr i="0" sz="2400" b="1">
                <a:solidFill>
                  <a:srgbClr val="002D5D"/>
                </a:solidFill>
                <a:latin typeface="Noto Sans KR"/>
              </a:rPr>
              <a:t>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113000" y="9182100"/>
            <a:ext cx="457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D1D5DB"/>
                </a:solidFill>
                <a:latin typeface="Noto Sans KR"/>
              </a:defRPr>
            </a:pPr>
            <a:r>
              <a:rPr i="0" sz="1400" b="1">
                <a:solidFill>
                  <a:srgbClr val="D1D5DB"/>
                </a:solidFill>
                <a:latin typeface="Noto Sans KR"/>
              </a:rPr>
              <a:t>/ 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2800" y="9258300"/>
            <a:ext cx="1092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002D5D"/>
                </a:solidFill>
                <a:latin typeface="Noto Sans KR"/>
              </a:defRPr>
            </a:pPr>
            <a:r>
              <a:rPr i="0" sz="1400" b="1">
                <a:solidFill>
                  <a:srgbClr val="002D5D"/>
                </a:solidFill>
                <a:latin typeface="Noto Sans KR"/>
              </a:rPr>
              <a:t>2026-03-18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86000" y="92583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002D5D"/>
                </a:solidFill>
                <a:latin typeface="Noto Sans KR"/>
              </a:defRPr>
            </a:pPr>
            <a:r>
              <a:rPr i="0" sz="1400" b="1">
                <a:solidFill>
                  <a:srgbClr val="002D5D"/>
                </a:solidFill>
                <a:latin typeface="Noto Sans KR"/>
              </a:rPr>
              <a:t>System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762000"/>
            <a:ext cx="86614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9CA3AF"/>
                </a:solidFill>
                <a:latin typeface="Noto Sans KR"/>
              </a:defRPr>
            </a:pPr>
            <a:r>
              <a:rPr i="0" sz="2000" b="1">
                <a:solidFill>
                  <a:srgbClr val="9CA3AF"/>
                </a:solidFill>
                <a:latin typeface="Noto Sans KR"/>
              </a:rPr>
              <a:t>직접 활용 가능한 실무형 AI Agent의 구현</a:t>
            </a:r>
          </a:p>
        </p:txBody>
      </p:sp>
      <p:pic>
        <p:nvPicPr>
          <p:cNvPr id="3" name="Picture 2" descr="192013df-f8eb-46d1-bb2b-4ec32464e3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0" y="762000"/>
            <a:ext cx="2032000" cy="571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6000" y="1219200"/>
            <a:ext cx="86614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defRPr i="0" sz="4800" b="1">
                <a:solidFill>
                  <a:srgbClr val="002D5D"/>
                </a:solidFill>
                <a:latin typeface="Noto Sans KR"/>
              </a:defRPr>
            </a:pPr>
            <a:r>
              <a:rPr i="0" sz="4800" b="1">
                <a:solidFill>
                  <a:srgbClr val="002D5D"/>
                </a:solidFill>
                <a:latin typeface="Noto Sans KR"/>
              </a:rPr>
              <a:t>프로젝트 목표 및 시스템 아키텍처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6000" y="2184400"/>
            <a:ext cx="1016000" cy="101600"/>
          </a:xfrm>
          <a:prstGeom prst="rect">
            <a:avLst/>
          </a:prstGeom>
          <a:solidFill>
            <a:srgbClr val="002D5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16000" y="2667000"/>
            <a:ext cx="4533900" cy="1384300"/>
          </a:xfrm>
          <a:prstGeom prst="roundRect">
            <a:avLst>
              <a:gd name="adj" fmla="val 11009"/>
            </a:avLst>
          </a:prstGeom>
          <a:solidFill>
            <a:srgbClr val="F8F9F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228600" tIns="228600" bIns="228600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016000" y="2667000"/>
            <a:ext cx="0" cy="1384300"/>
          </a:xfrm>
          <a:prstGeom prst="line">
            <a:avLst/>
          </a:prstGeom>
          <a:ln w="50800">
            <a:solidFill>
              <a:srgbClr val="002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854700" y="2667000"/>
            <a:ext cx="4533900" cy="1384300"/>
          </a:xfrm>
          <a:prstGeom prst="roundRect">
            <a:avLst>
              <a:gd name="adj" fmla="val 11009"/>
            </a:avLst>
          </a:prstGeom>
          <a:solidFill>
            <a:srgbClr val="F8F9F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228600" tIns="228600" bIns="228600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854700" y="2667000"/>
            <a:ext cx="0" cy="1384300"/>
          </a:xfrm>
          <a:prstGeom prst="line">
            <a:avLst/>
          </a:prstGeom>
          <a:ln w="50800">
            <a:solidFill>
              <a:srgbClr val="002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0706100" y="2667000"/>
            <a:ext cx="4533900" cy="1384300"/>
          </a:xfrm>
          <a:prstGeom prst="roundRect">
            <a:avLst>
              <a:gd name="adj" fmla="val 11009"/>
            </a:avLst>
          </a:prstGeom>
          <a:solidFill>
            <a:srgbClr val="F8F9F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228600" tIns="228600" bIns="228600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0706100" y="2667000"/>
            <a:ext cx="0" cy="1384300"/>
          </a:xfrm>
          <a:prstGeom prst="line">
            <a:avLst/>
          </a:prstGeom>
          <a:ln w="50800">
            <a:solidFill>
              <a:srgbClr val="002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3d35e096-f30f-4f12-a5fc-39398599eb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800" y="2921000"/>
            <a:ext cx="177800" cy="254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00200" y="2946400"/>
            <a:ext cx="13462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002D5D"/>
                </a:solidFill>
                <a:latin typeface="Noto Sans KR"/>
              </a:defRPr>
            </a:pPr>
            <a:r>
              <a:rPr i="0" sz="1200" b="1">
                <a:solidFill>
                  <a:srgbClr val="002D5D"/>
                </a:solidFill>
                <a:latin typeface="Noto Sans KR"/>
              </a:rPr>
              <a:t>PRIMARY GOAL</a:t>
            </a:r>
          </a:p>
        </p:txBody>
      </p:sp>
      <p:pic>
        <p:nvPicPr>
          <p:cNvPr id="14" name="Picture 13" descr="97be1096-8867-4849-a029-38e1c3ed8c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500" y="2921000"/>
            <a:ext cx="152400" cy="254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26200" y="2946400"/>
            <a:ext cx="1066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002D5D"/>
                </a:solidFill>
                <a:latin typeface="Noto Sans KR"/>
              </a:defRPr>
            </a:pPr>
            <a:r>
              <a:rPr i="0" sz="1200" b="1">
                <a:solidFill>
                  <a:srgbClr val="002D5D"/>
                </a:solidFill>
                <a:latin typeface="Noto Sans KR"/>
              </a:rPr>
              <a:t>EFFICIENCY</a:t>
            </a:r>
          </a:p>
        </p:txBody>
      </p:sp>
      <p:pic>
        <p:nvPicPr>
          <p:cNvPr id="16" name="Picture 15" descr="e059f310-785b-4bd6-b090-6ab0f79d7f6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0900" y="2921000"/>
            <a:ext cx="177800" cy="254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290300" y="2946400"/>
            <a:ext cx="1320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002D5D"/>
                </a:solidFill>
                <a:latin typeface="Noto Sans KR"/>
              </a:defRPr>
            </a:pPr>
            <a:r>
              <a:rPr i="0" sz="1200" b="1">
                <a:solidFill>
                  <a:srgbClr val="002D5D"/>
                </a:solidFill>
                <a:latin typeface="Noto Sans KR"/>
              </a:rPr>
              <a:t>CONNECTIVITY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0800" y="3263900"/>
            <a:ext cx="38862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i="0" sz="1500" b="1">
                <a:solidFill>
                  <a:srgbClr val="1F2937"/>
                </a:solidFill>
                <a:latin typeface="Noto Sans KR"/>
              </a:rPr>
              <a:t>회의록 자동화</a:t>
            </a:r>
            <a:r>
              <a:rPr i="0" sz="1500" b="0">
                <a:solidFill>
                  <a:srgbClr val="1F2937"/>
                </a:solidFill>
                <a:latin typeface="Noto Sans KR"/>
              </a:rPr>
              <a:t>: 입력부터 요약, 추출까지 전 과정 </a:t>
            </a:r>
            <a:r>
              <a:rPr i="0" sz="1500" b="1">
                <a:solidFill>
                  <a:srgbClr val="1F2937"/>
                </a:solidFill>
                <a:latin typeface="Noto Sans KR"/>
              </a:rPr>
              <a:t>단일 파이프라인</a:t>
            </a:r>
            <a:r>
              <a:rPr i="0" sz="1500" b="0">
                <a:solidFill>
                  <a:srgbClr val="1F2937"/>
                </a:solidFill>
                <a:latin typeface="Noto Sans KR"/>
              </a:rPr>
              <a:t> 구축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9500" y="3263900"/>
            <a:ext cx="40386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i="0" sz="1500" b="1">
                <a:solidFill>
                  <a:srgbClr val="1F2937"/>
                </a:solidFill>
                <a:latin typeface="Noto Sans KR"/>
              </a:rPr>
              <a:t>Action Item 추출</a:t>
            </a:r>
            <a:r>
              <a:rPr i="0" sz="1500" b="0">
                <a:solidFill>
                  <a:srgbClr val="1F2937"/>
                </a:solidFill>
                <a:latin typeface="Noto Sans KR"/>
              </a:rPr>
              <a:t>: 핵심 할 일을 자동으로 분류하여 </a:t>
            </a:r>
            <a:r>
              <a:rPr i="0" sz="1500" b="1">
                <a:solidFill>
                  <a:srgbClr val="1F2937"/>
                </a:solidFill>
                <a:latin typeface="Noto Sans KR"/>
              </a:rPr>
              <a:t>업무 누락 방지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0900" y="3263900"/>
            <a:ext cx="38862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i="0" sz="1500" b="1">
                <a:solidFill>
                  <a:srgbClr val="1F2937"/>
                </a:solidFill>
                <a:latin typeface="Noto Sans KR"/>
              </a:rPr>
              <a:t>외부 연동</a:t>
            </a:r>
            <a:r>
              <a:rPr i="0" sz="1500" b="0">
                <a:solidFill>
                  <a:srgbClr val="1F2937"/>
                </a:solidFill>
                <a:latin typeface="Noto Sans KR"/>
              </a:rPr>
              <a:t>: 캘린더 및 메신저 연동을 통한 </a:t>
            </a:r>
            <a:r>
              <a:rPr i="0" sz="1500" b="1">
                <a:solidFill>
                  <a:srgbClr val="1F2937"/>
                </a:solidFill>
                <a:latin typeface="Noto Sans KR"/>
              </a:rPr>
              <a:t>실시간 협업 환경</a:t>
            </a:r>
            <a:r>
              <a:rPr i="0" sz="1500" b="0">
                <a:solidFill>
                  <a:srgbClr val="1F2937"/>
                </a:solidFill>
                <a:latin typeface="Noto Sans KR"/>
              </a:rPr>
              <a:t> 조성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6000" y="4559300"/>
            <a:ext cx="14224000" cy="41148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3F4F6"/>
            </a:solidFill>
          </a:ln>
          <a:effectLst>
            <a:outerShdw blurRad="25400" dir="9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0" rIns="381000" tIns="381000" bIns="381000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83700" y="4978400"/>
            <a:ext cx="1219200" cy="12192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50800">
            <a:solidFill>
              <a:srgbClr val="002D5D"/>
            </a:solidFill>
          </a:ln>
          <a:effectLst>
            <a:outerShdw blurRad="76200" dir="90000" dist="50800" rotWithShape="0">
              <a:srgbClr val="002d5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133600" y="5080000"/>
            <a:ext cx="1016000" cy="101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002D5D"/>
            </a:solidFill>
          </a:ln>
          <a:effectLst>
            <a:outerShdw blurRad="76200" dir="90000" dist="50800" rotWithShape="0">
              <a:srgbClr val="002d5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51500" y="5080000"/>
            <a:ext cx="1016000" cy="101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002D5D"/>
            </a:solidFill>
          </a:ln>
          <a:effectLst>
            <a:outerShdw blurRad="76200" dir="90000" dist="50800" rotWithShape="0">
              <a:srgbClr val="002d5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3106400" y="5080000"/>
            <a:ext cx="1016000" cy="101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002D5D"/>
            </a:solidFill>
          </a:ln>
          <a:effectLst>
            <a:outerShdw blurRad="76200" dir="90000" dist="50800" rotWithShape="0">
              <a:srgbClr val="002d5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pic>
        <p:nvPicPr>
          <p:cNvPr id="26" name="Picture 25" descr="145f6b59-0e45-436b-8ae5-b91720144ba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7100" y="5270500"/>
            <a:ext cx="304800" cy="406400"/>
          </a:xfrm>
          <a:prstGeom prst="rect">
            <a:avLst/>
          </a:prstGeom>
        </p:spPr>
      </p:pic>
      <p:pic>
        <p:nvPicPr>
          <p:cNvPr id="27" name="Picture 26" descr="e1d29556-975f-4e64-a211-594304fcee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7400" y="5245100"/>
            <a:ext cx="431800" cy="457200"/>
          </a:xfrm>
          <a:prstGeom prst="rect">
            <a:avLst/>
          </a:prstGeom>
        </p:spPr>
      </p:pic>
      <p:pic>
        <p:nvPicPr>
          <p:cNvPr id="28" name="Picture 27" descr="b9bd4278-1143-4090-9dba-cc0bfa248d0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00300" y="5359400"/>
            <a:ext cx="482600" cy="457200"/>
          </a:xfrm>
          <a:prstGeom prst="rect">
            <a:avLst/>
          </a:prstGeom>
        </p:spPr>
      </p:pic>
      <p:pic>
        <p:nvPicPr>
          <p:cNvPr id="29" name="Picture 28" descr="0a31bf99-7224-479e-82ba-476ed44841e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22300" y="5410200"/>
            <a:ext cx="228600" cy="355600"/>
          </a:xfrm>
          <a:prstGeom prst="rect">
            <a:avLst/>
          </a:prstGeom>
        </p:spPr>
      </p:pic>
      <p:pic>
        <p:nvPicPr>
          <p:cNvPr id="30" name="Picture 29" descr="e0f00144-826d-4f20-ad0b-3caff9f0b7a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52500" y="5410200"/>
            <a:ext cx="254000" cy="3556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057900" y="5727700"/>
            <a:ext cx="3429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000" b="1">
                <a:solidFill>
                  <a:srgbClr val="002D5D"/>
                </a:solidFill>
                <a:latin typeface="Noto Sans KR"/>
              </a:defRPr>
            </a:pPr>
            <a:r>
              <a:rPr i="0" sz="1000" b="1">
                <a:solidFill>
                  <a:srgbClr val="002D5D"/>
                </a:solidFill>
                <a:latin typeface="Noto Sans KR"/>
              </a:rPr>
              <a:t>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37700" y="5753100"/>
            <a:ext cx="838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000" b="1">
                <a:solidFill>
                  <a:srgbClr val="002D5D"/>
                </a:solidFill>
                <a:latin typeface="Noto Sans KR"/>
              </a:defRPr>
            </a:pPr>
            <a:r>
              <a:rPr i="0" sz="1000" b="1">
                <a:solidFill>
                  <a:srgbClr val="002D5D"/>
                </a:solidFill>
                <a:latin typeface="Noto Sans KR"/>
              </a:rPr>
              <a:t>GEMINI 2.5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860800" y="6032500"/>
            <a:ext cx="1079500" cy="2540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4864100" y="5981700"/>
            <a:ext cx="101600" cy="1270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4864100" y="5981700"/>
            <a:ext cx="0" cy="127000"/>
          </a:xfrm>
          <a:prstGeom prst="line">
            <a:avLst/>
          </a:prstGeom>
          <a:ln w="1016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78700" y="6032500"/>
            <a:ext cx="1079500" cy="2540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8394700" y="5981700"/>
            <a:ext cx="101600" cy="1270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8394700" y="5981700"/>
            <a:ext cx="0" cy="127000"/>
          </a:xfrm>
          <a:prstGeom prst="line">
            <a:avLst/>
          </a:prstGeom>
          <a:ln w="1016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315700" y="6032500"/>
            <a:ext cx="1079500" cy="2540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12319000" y="5981700"/>
            <a:ext cx="101600" cy="1270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12319000" y="5981700"/>
            <a:ext cx="0" cy="127000"/>
          </a:xfrm>
          <a:prstGeom prst="line">
            <a:avLst/>
          </a:prstGeom>
          <a:ln w="1016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336800" y="6248400"/>
            <a:ext cx="7366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002D5D"/>
                </a:solidFill>
                <a:latin typeface="Noto Sans KR"/>
              </a:defRPr>
            </a:pPr>
            <a:r>
              <a:rPr i="0" sz="1200" b="1">
                <a:solidFill>
                  <a:srgbClr val="002D5D"/>
                </a:solidFill>
                <a:latin typeface="Noto Sans KR"/>
              </a:rPr>
              <a:t>STEP 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67400" y="6248400"/>
            <a:ext cx="7366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002D5D"/>
                </a:solidFill>
                <a:latin typeface="Noto Sans KR"/>
              </a:defRPr>
            </a:pPr>
            <a:r>
              <a:rPr i="0" sz="1200" b="1">
                <a:solidFill>
                  <a:srgbClr val="002D5D"/>
                </a:solidFill>
                <a:latin typeface="Noto Sans KR"/>
              </a:rPr>
              <a:t>STEP 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309600" y="6248400"/>
            <a:ext cx="7366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002D5D"/>
                </a:solidFill>
                <a:latin typeface="Noto Sans KR"/>
              </a:defRPr>
            </a:pPr>
            <a:r>
              <a:rPr i="0" sz="1200" b="1">
                <a:solidFill>
                  <a:srgbClr val="002D5D"/>
                </a:solidFill>
                <a:latin typeface="Noto Sans KR"/>
              </a:rPr>
              <a:t>STEP 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88500" y="6350000"/>
            <a:ext cx="7366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002D5D"/>
                </a:solidFill>
                <a:latin typeface="Noto Sans KR"/>
              </a:defRPr>
            </a:pPr>
            <a:r>
              <a:rPr i="0" sz="1200" b="1">
                <a:solidFill>
                  <a:srgbClr val="002D5D"/>
                </a:solidFill>
                <a:latin typeface="Noto Sans KR"/>
              </a:rPr>
              <a:t>STEP 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33600" y="6502400"/>
            <a:ext cx="11303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300" b="1">
                <a:solidFill>
                  <a:srgbClr val="1A1A1A"/>
                </a:solidFill>
                <a:latin typeface="Noto Sans KR"/>
              </a:rPr>
              <a:t>회의 정보 입력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89600" y="6502400"/>
            <a:ext cx="10795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300" b="1">
                <a:solidFill>
                  <a:srgbClr val="1A1A1A"/>
                </a:solidFill>
                <a:latin typeface="Noto Sans KR"/>
              </a:rPr>
              <a:t>데이터 전처리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030200" y="6502400"/>
            <a:ext cx="12827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300" b="1">
                <a:solidFill>
                  <a:srgbClr val="1A1A1A"/>
                </a:solidFill>
                <a:latin typeface="Noto Sans KR"/>
              </a:rPr>
              <a:t>외부 시스템 공유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59900" y="6604000"/>
            <a:ext cx="11811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300" b="1">
                <a:solidFill>
                  <a:srgbClr val="1A1A1A"/>
                </a:solidFill>
                <a:latin typeface="Noto Sans KR"/>
              </a:rPr>
              <a:t>AI 분석 및 요약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46300" y="6781800"/>
            <a:ext cx="11176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i="0" sz="1100" b="0">
                <a:solidFill>
                  <a:srgbClr val="6B7280"/>
                </a:solidFill>
                <a:latin typeface="Noto Sans KR"/>
              </a:rPr>
              <a:t>(Web Interface)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62600" y="6781800"/>
            <a:ext cx="13335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i="0" sz="1100" b="0">
                <a:solidFill>
                  <a:srgbClr val="6B7280"/>
                </a:solidFill>
                <a:latin typeface="Noto Sans KR"/>
              </a:rPr>
              <a:t>FastAPI / Streamlit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865100" y="6781800"/>
            <a:ext cx="16256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i="0" sz="1100" b="0">
                <a:solidFill>
                  <a:srgbClr val="6B7280"/>
                </a:solidFill>
                <a:latin typeface="Noto Sans KR"/>
              </a:rPr>
              <a:t>Google / Slack / Teams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58300" y="6883400"/>
            <a:ext cx="1397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i="0" sz="1100" b="0">
                <a:solidFill>
                  <a:srgbClr val="6B7280"/>
                </a:solidFill>
                <a:latin typeface="Noto Sans KR"/>
              </a:rPr>
              <a:t>JSON Parsing Logic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625600" y="7708900"/>
            <a:ext cx="13004800" cy="5461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9400" bIns="0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625600" y="7708900"/>
            <a:ext cx="1300480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3771900" y="80899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002D5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975100" y="8026400"/>
            <a:ext cx="22352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i="0" sz="1200" b="1">
                <a:solidFill>
                  <a:srgbClr val="4B5563"/>
                </a:solidFill>
                <a:latin typeface="Noto Sans KR"/>
              </a:rPr>
              <a:t>Frontend:</a:t>
            </a:r>
            <a:r>
              <a:rPr i="0" sz="1200" b="0">
                <a:solidFill>
                  <a:srgbClr val="4B5563"/>
                </a:solidFill>
                <a:latin typeface="Noto Sans KR"/>
              </a:rPr>
              <a:t> Streamlit Web App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692900" y="80899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002D5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96100" y="8026400"/>
            <a:ext cx="2540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i="0" sz="1200" b="1">
                <a:solidFill>
                  <a:srgbClr val="4B5563"/>
                </a:solidFill>
                <a:latin typeface="Noto Sans KR"/>
              </a:rPr>
              <a:t>Backend:</a:t>
            </a:r>
            <a:r>
              <a:rPr i="0" sz="1200" b="0">
                <a:solidFill>
                  <a:srgbClr val="4B5563"/>
                </a:solidFill>
                <a:latin typeface="Noto Sans KR"/>
              </a:rPr>
              <a:t> FastAPI (Asynchronous)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918700" y="80899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002D5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121900" y="8026400"/>
            <a:ext cx="24892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i="0" sz="1200" b="1">
                <a:solidFill>
                  <a:srgbClr val="4B5563"/>
                </a:solidFill>
                <a:latin typeface="Noto Sans KR"/>
              </a:rPr>
              <a:t>AI Core:</a:t>
            </a:r>
            <a:r>
              <a:rPr i="0" sz="1200" b="0">
                <a:solidFill>
                  <a:srgbClr val="4B5563"/>
                </a:solidFill>
                <a:latin typeface="Noto Sans KR"/>
              </a:rPr>
              <a:t> Google Gemini 2.5 Flash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2800" y="9182100"/>
            <a:ext cx="10922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9CA3AF"/>
                </a:solidFill>
                <a:latin typeface="Noto Sans KR"/>
              </a:defRPr>
            </a:pPr>
            <a:r>
              <a:rPr i="0" sz="1200" b="1">
                <a:solidFill>
                  <a:srgbClr val="9CA3AF"/>
                </a:solidFill>
                <a:latin typeface="Noto Sans KR"/>
              </a:rPr>
              <a:t>DATE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286000" y="9182100"/>
            <a:ext cx="14859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9CA3AF"/>
                </a:solidFill>
                <a:latin typeface="Noto Sans KR"/>
              </a:defRPr>
            </a:pPr>
            <a:r>
              <a:rPr i="0" sz="1200" b="1">
                <a:solidFill>
                  <a:srgbClr val="9CA3AF"/>
                </a:solidFill>
                <a:latin typeface="Noto Sans KR"/>
              </a:rPr>
              <a:t>TARGET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643100" y="9283700"/>
            <a:ext cx="4953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defRPr i="0" sz="2400" b="1">
                <a:solidFill>
                  <a:srgbClr val="002D5D"/>
                </a:solidFill>
                <a:latin typeface="Noto Sans KR"/>
              </a:defRPr>
            </a:pPr>
            <a:r>
              <a:rPr i="0" sz="2400" b="1">
                <a:solidFill>
                  <a:srgbClr val="002D5D"/>
                </a:solidFill>
                <a:latin typeface="Noto Sans KR"/>
              </a:rPr>
              <a:t>04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113000" y="9359900"/>
            <a:ext cx="457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D1D5DB"/>
                </a:solidFill>
                <a:latin typeface="Noto Sans KR"/>
              </a:defRPr>
            </a:pPr>
            <a:r>
              <a:rPr i="0" sz="1400" b="1">
                <a:solidFill>
                  <a:srgbClr val="D1D5DB"/>
                </a:solidFill>
                <a:latin typeface="Noto Sans KR"/>
              </a:rPr>
              <a:t>/ 12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2800" y="9436100"/>
            <a:ext cx="1092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002D5D"/>
                </a:solidFill>
                <a:latin typeface="Noto Sans KR"/>
              </a:defRPr>
            </a:pPr>
            <a:r>
              <a:rPr i="0" sz="1400" b="1">
                <a:solidFill>
                  <a:srgbClr val="002D5D"/>
                </a:solidFill>
                <a:latin typeface="Noto Sans KR"/>
              </a:rPr>
              <a:t>2026-03-18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86000" y="9436100"/>
            <a:ext cx="14859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002D5D"/>
                </a:solidFill>
                <a:latin typeface="Noto Sans KR"/>
              </a:defRPr>
            </a:pPr>
            <a:r>
              <a:rPr i="0" sz="1400" b="1">
                <a:solidFill>
                  <a:srgbClr val="002D5D"/>
                </a:solidFill>
                <a:latin typeface="Noto Sans KR"/>
              </a:rPr>
              <a:t>기술직 포트폴리오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762000"/>
            <a:ext cx="71501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9CA3AF"/>
                </a:solidFill>
                <a:latin typeface="Noto Sans KR"/>
              </a:defRPr>
            </a:pPr>
            <a:r>
              <a:rPr i="0" sz="2000" b="1">
                <a:solidFill>
                  <a:srgbClr val="9CA3AF"/>
                </a:solidFill>
                <a:latin typeface="Noto Sans KR"/>
              </a:rPr>
              <a:t>프론트엔드~AI 모델까지, 빠르고 견고한 기술 선정</a:t>
            </a:r>
          </a:p>
        </p:txBody>
      </p:sp>
      <p:pic>
        <p:nvPicPr>
          <p:cNvPr id="3" name="Picture 2" descr="192013df-f8eb-46d1-bb2b-4ec32464e3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0" y="762000"/>
            <a:ext cx="2032000" cy="571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6000" y="1219200"/>
            <a:ext cx="71501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defRPr i="0" sz="4800" b="1">
                <a:solidFill>
                  <a:srgbClr val="002D5D"/>
                </a:solidFill>
                <a:latin typeface="Noto Sans KR"/>
              </a:defRPr>
            </a:pPr>
            <a:r>
              <a:rPr i="0" sz="4800" b="1">
                <a:solidFill>
                  <a:srgbClr val="002D5D"/>
                </a:solidFill>
                <a:latin typeface="Noto Sans KR"/>
              </a:rPr>
              <a:t>주요 기술 스택 및 선정 이유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6000" y="2184400"/>
            <a:ext cx="1016000" cy="101600"/>
          </a:xfrm>
          <a:prstGeom prst="rect">
            <a:avLst/>
          </a:prstGeom>
          <a:solidFill>
            <a:srgbClr val="002D5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16000" y="2667000"/>
            <a:ext cx="6959600" cy="1435100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228600" tIns="228600" bIns="228600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016000" y="2667000"/>
            <a:ext cx="0" cy="1435100"/>
          </a:xfrm>
          <a:prstGeom prst="line">
            <a:avLst/>
          </a:prstGeom>
          <a:ln w="50800">
            <a:solidFill>
              <a:srgbClr val="002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16000" y="2667000"/>
            <a:ext cx="69596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16000" y="4102100"/>
            <a:ext cx="69596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975600" y="2667000"/>
            <a:ext cx="0" cy="143510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80400" y="2667000"/>
            <a:ext cx="6959600" cy="1435100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228600" tIns="228600" bIns="228600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80400" y="2667000"/>
            <a:ext cx="0" cy="1435100"/>
          </a:xfrm>
          <a:prstGeom prst="line">
            <a:avLst/>
          </a:prstGeom>
          <a:ln w="50800">
            <a:solidFill>
              <a:srgbClr val="002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280400" y="2667000"/>
            <a:ext cx="69596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280400" y="4102100"/>
            <a:ext cx="69596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5240000" y="2667000"/>
            <a:ext cx="0" cy="143510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320800" y="2933700"/>
            <a:ext cx="711200" cy="711200"/>
          </a:xfrm>
          <a:prstGeom prst="roundRect">
            <a:avLst>
              <a:gd name="adj" fmla="val 14285"/>
            </a:avLst>
          </a:prstGeom>
          <a:solidFill>
            <a:srgbClr val="F0F4F8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235200" y="2984500"/>
            <a:ext cx="1041400" cy="254000"/>
          </a:xfrm>
          <a:prstGeom prst="roundRect">
            <a:avLst>
              <a:gd name="adj" fmla="val 20000"/>
            </a:avLst>
          </a:prstGeom>
          <a:solidFill>
            <a:srgbClr val="002D5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0" bIns="0"/>
          <a:lstStyle/>
          <a:p>
            <a:pPr algn="l">
              <a:defRPr i="0" sz="1200" b="1">
                <a:solidFill>
                  <a:srgbClr val="FFFFFF"/>
                </a:solidFill>
                <a:latin typeface="Noto Sans KR"/>
              </a:defRPr>
            </a:pPr>
            <a:r>
              <a:rPr i="0" sz="1200" b="1">
                <a:solidFill>
                  <a:srgbClr val="FFFFFF"/>
                </a:solidFill>
                <a:latin typeface="Noto Sans KR"/>
              </a:rPr>
              <a:t>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8200" y="2933700"/>
            <a:ext cx="11811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1">
                <a:solidFill>
                  <a:srgbClr val="002D5D"/>
                </a:solidFill>
                <a:latin typeface="Noto Sans KR"/>
              </a:defRPr>
            </a:pPr>
            <a:r>
              <a:rPr i="0" sz="1800" b="1">
                <a:solidFill>
                  <a:srgbClr val="002D5D"/>
                </a:solidFill>
                <a:latin typeface="Noto Sans KR"/>
              </a:rPr>
              <a:t>Streamlit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85200" y="2933700"/>
            <a:ext cx="711200" cy="711200"/>
          </a:xfrm>
          <a:prstGeom prst="roundRect">
            <a:avLst>
              <a:gd name="adj" fmla="val 14285"/>
            </a:avLst>
          </a:prstGeom>
          <a:solidFill>
            <a:srgbClr val="F0F4F8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499600" y="2984500"/>
            <a:ext cx="927100" cy="254000"/>
          </a:xfrm>
          <a:prstGeom prst="roundRect">
            <a:avLst>
              <a:gd name="adj" fmla="val 20000"/>
            </a:avLst>
          </a:prstGeom>
          <a:solidFill>
            <a:srgbClr val="002D5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0" bIns="0"/>
          <a:lstStyle/>
          <a:p>
            <a:pPr algn="l">
              <a:defRPr i="0" sz="1200" b="1">
                <a:solidFill>
                  <a:srgbClr val="FFFFFF"/>
                </a:solidFill>
                <a:latin typeface="Noto Sans KR"/>
              </a:defRPr>
            </a:pPr>
            <a:r>
              <a:rPr i="0" sz="1200" b="1">
                <a:solidFill>
                  <a:srgbClr val="FFFFFF"/>
                </a:solidFill>
                <a:latin typeface="Noto Sans KR"/>
              </a:rPr>
              <a:t>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28300" y="2933700"/>
            <a:ext cx="965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1">
                <a:solidFill>
                  <a:srgbClr val="002D5D"/>
                </a:solidFill>
                <a:latin typeface="Noto Sans KR"/>
              </a:defRPr>
            </a:pPr>
            <a:r>
              <a:rPr i="0" sz="1800" b="1">
                <a:solidFill>
                  <a:srgbClr val="002D5D"/>
                </a:solidFill>
                <a:latin typeface="Noto Sans KR"/>
              </a:rPr>
              <a:t>FastAPI</a:t>
            </a:r>
          </a:p>
        </p:txBody>
      </p:sp>
      <p:pic>
        <p:nvPicPr>
          <p:cNvPr id="22" name="Picture 21" descr="fd69ed48-89dd-4a47-989a-d42d1bc2a5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300" y="3086100"/>
            <a:ext cx="342900" cy="406400"/>
          </a:xfrm>
          <a:prstGeom prst="rect">
            <a:avLst/>
          </a:prstGeom>
        </p:spPr>
      </p:pic>
      <p:pic>
        <p:nvPicPr>
          <p:cNvPr id="23" name="Picture 22" descr="145f6b59-0e45-436b-8ae5-b91720144ba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400" y="3086100"/>
            <a:ext cx="304800" cy="406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35200" y="3327400"/>
            <a:ext cx="54102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400" b="0">
                <a:solidFill>
                  <a:srgbClr val="4B5563"/>
                </a:solidFill>
                <a:latin typeface="Noto Sans KR"/>
              </a:rPr>
              <a:t>HTML/CSS 없이 </a:t>
            </a:r>
            <a:r>
              <a:rPr i="0" sz="1400" b="1">
                <a:solidFill>
                  <a:srgbClr val="4B5563"/>
                </a:solidFill>
                <a:latin typeface="Noto Sans KR"/>
              </a:rPr>
              <a:t>빠른 인터랙티브 대시보드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 구축 가능. 데이터 시각화 및 UI 프로토타이핑 최적화.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99600" y="3327400"/>
            <a:ext cx="54737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i="0" sz="1400" b="1">
                <a:solidFill>
                  <a:srgbClr val="4B5563"/>
                </a:solidFill>
                <a:latin typeface="Noto Sans KR"/>
              </a:rPr>
              <a:t>비동기 처리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 기반 성능 극대화. 마이크로서비스 구조에 적합하며 자동 API 문서화 지원.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6000" y="4406900"/>
            <a:ext cx="6959600" cy="1435100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228600" tIns="228600" bIns="228600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016000" y="4406900"/>
            <a:ext cx="0" cy="1435100"/>
          </a:xfrm>
          <a:prstGeom prst="line">
            <a:avLst/>
          </a:prstGeom>
          <a:ln w="50800">
            <a:solidFill>
              <a:srgbClr val="002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16000" y="4406900"/>
            <a:ext cx="69596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16000" y="5829300"/>
            <a:ext cx="69596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975600" y="4406900"/>
            <a:ext cx="0" cy="143510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280400" y="4406900"/>
            <a:ext cx="6959600" cy="1435100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228600" tIns="228600" bIns="228600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8280400" y="4406900"/>
            <a:ext cx="0" cy="1435100"/>
          </a:xfrm>
          <a:prstGeom prst="line">
            <a:avLst/>
          </a:prstGeom>
          <a:ln w="50800">
            <a:solidFill>
              <a:srgbClr val="002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80400" y="4406900"/>
            <a:ext cx="69596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80400" y="5829300"/>
            <a:ext cx="69596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5240000" y="4406900"/>
            <a:ext cx="0" cy="143510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320800" y="4673600"/>
            <a:ext cx="711200" cy="711200"/>
          </a:xfrm>
          <a:prstGeom prst="roundRect">
            <a:avLst>
              <a:gd name="adj" fmla="val 14285"/>
            </a:avLst>
          </a:prstGeom>
          <a:solidFill>
            <a:srgbClr val="F0F4F8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235200" y="4724400"/>
            <a:ext cx="927100" cy="254000"/>
          </a:xfrm>
          <a:prstGeom prst="roundRect">
            <a:avLst>
              <a:gd name="adj" fmla="val 20000"/>
            </a:avLst>
          </a:prstGeom>
          <a:solidFill>
            <a:srgbClr val="002D5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0" bIns="0"/>
          <a:lstStyle/>
          <a:p>
            <a:pPr algn="l">
              <a:defRPr i="0" sz="1200" b="1">
                <a:solidFill>
                  <a:srgbClr val="FFFFFF"/>
                </a:solidFill>
                <a:latin typeface="Noto Sans KR"/>
              </a:defRPr>
            </a:pPr>
            <a:r>
              <a:rPr i="0" sz="1200" b="1">
                <a:solidFill>
                  <a:srgbClr val="FFFFFF"/>
                </a:solidFill>
                <a:latin typeface="Noto Sans KR"/>
              </a:rPr>
              <a:t>AI 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63900" y="4673600"/>
            <a:ext cx="28575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1">
                <a:solidFill>
                  <a:srgbClr val="002D5D"/>
                </a:solidFill>
                <a:latin typeface="Noto Sans KR"/>
              </a:defRPr>
            </a:pPr>
            <a:r>
              <a:rPr i="0" sz="1800" b="1">
                <a:solidFill>
                  <a:srgbClr val="002D5D"/>
                </a:solidFill>
                <a:latin typeface="Noto Sans KR"/>
              </a:rPr>
              <a:t>Google Gemini 2.5 Flash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85200" y="4673600"/>
            <a:ext cx="711200" cy="711200"/>
          </a:xfrm>
          <a:prstGeom prst="roundRect">
            <a:avLst>
              <a:gd name="adj" fmla="val 14285"/>
            </a:avLst>
          </a:prstGeom>
          <a:solidFill>
            <a:srgbClr val="F0F4F8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499600" y="4724400"/>
            <a:ext cx="939800" cy="254000"/>
          </a:xfrm>
          <a:prstGeom prst="roundRect">
            <a:avLst>
              <a:gd name="adj" fmla="val 20000"/>
            </a:avLst>
          </a:prstGeom>
          <a:solidFill>
            <a:srgbClr val="002D5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0" bIns="0"/>
          <a:lstStyle/>
          <a:p>
            <a:pPr algn="l">
              <a:defRPr i="0" sz="1200" b="1">
                <a:solidFill>
                  <a:srgbClr val="FFFFFF"/>
                </a:solidFill>
                <a:latin typeface="Noto Sans KR"/>
              </a:defRPr>
            </a:pPr>
            <a:r>
              <a:rPr i="0" sz="1200" b="1">
                <a:solidFill>
                  <a:srgbClr val="FFFFFF"/>
                </a:solidFill>
                <a:latin typeface="Noto Sans KR"/>
              </a:rPr>
              <a:t>SECURITY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41000" y="4673600"/>
            <a:ext cx="18034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1">
                <a:solidFill>
                  <a:srgbClr val="002D5D"/>
                </a:solidFill>
                <a:latin typeface="Noto Sans KR"/>
              </a:defRPr>
            </a:pPr>
            <a:r>
              <a:rPr i="0" sz="1800" b="1">
                <a:solidFill>
                  <a:srgbClr val="002D5D"/>
                </a:solidFill>
                <a:latin typeface="Noto Sans KR"/>
              </a:rPr>
              <a:t>python-dotenv</a:t>
            </a:r>
          </a:p>
        </p:txBody>
      </p:sp>
      <p:pic>
        <p:nvPicPr>
          <p:cNvPr id="42" name="Picture 41" descr="5f83a2d3-d710-4868-bf4b-e3caf6f9ef1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304800" cy="406400"/>
          </a:xfrm>
          <a:prstGeom prst="rect">
            <a:avLst/>
          </a:prstGeom>
        </p:spPr>
      </p:pic>
      <p:pic>
        <p:nvPicPr>
          <p:cNvPr id="43" name="Picture 42" descr="13f96a76-8d37-4e89-bd90-46f985b54ea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3800" y="4826000"/>
            <a:ext cx="266700" cy="4064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235200" y="5067300"/>
            <a:ext cx="533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400" b="0">
                <a:solidFill>
                  <a:srgbClr val="4B5563"/>
                </a:solidFill>
                <a:latin typeface="Noto Sans KR"/>
              </a:rPr>
              <a:t>최신 </a:t>
            </a:r>
            <a:r>
              <a:rPr i="0" sz="1400" b="1">
                <a:solidFill>
                  <a:srgbClr val="4B5563"/>
                </a:solidFill>
                <a:latin typeface="Noto Sans KR"/>
              </a:rPr>
              <a:t>경량 LLM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으로 장문 텍스트 처리 능력 및 우수한 </a:t>
            </a:r>
            <a:r>
              <a:rPr i="0" sz="1400" b="1">
                <a:solidFill>
                  <a:srgbClr val="4B5563"/>
                </a:solidFill>
                <a:latin typeface="Noto Sans KR"/>
              </a:rPr>
              <a:t>비용 효율성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 제공.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99600" y="5067300"/>
            <a:ext cx="55245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400" b="0">
                <a:solidFill>
                  <a:srgbClr val="4B5563"/>
                </a:solidFill>
                <a:latin typeface="Noto Sans KR"/>
              </a:rPr>
              <a:t>환경 변수 분리를 통한 </a:t>
            </a:r>
            <a:r>
              <a:rPr i="0" sz="1400" b="1">
                <a:solidFill>
                  <a:srgbClr val="4B5563"/>
                </a:solidFill>
                <a:latin typeface="Noto Sans KR"/>
              </a:rPr>
              <a:t>API Key 및 비밀 관리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 강화. 소스코드 유출 시 보안 리스크 최소화.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16000" y="6235700"/>
            <a:ext cx="14224000" cy="1549400"/>
          </a:xfrm>
          <a:prstGeom prst="roundRect">
            <a:avLst>
              <a:gd name="adj" fmla="val 13114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9400" rIns="279400" tIns="279400" bIns="279400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33500" y="65532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02D5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pic>
        <p:nvPicPr>
          <p:cNvPr id="48" name="Picture 47" descr="333c6985-1ea2-475a-8cca-77ccc42a6e7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2100" y="6680200"/>
            <a:ext cx="165100" cy="355600"/>
          </a:xfrm>
          <a:prstGeom prst="rect">
            <a:avLst/>
          </a:prstGeom>
        </p:spPr>
      </p:pic>
      <p:pic>
        <p:nvPicPr>
          <p:cNvPr id="49" name="Picture 48" descr="1f0ad96b-f54b-442f-ade1-65dc5610ee0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49500" y="6731000"/>
            <a:ext cx="177800" cy="2032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679700" y="668020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i="0" sz="1600" b="1">
                <a:solidFill>
                  <a:srgbClr val="1F2937"/>
                </a:solidFill>
                <a:latin typeface="Noto Sans KR"/>
              </a:rPr>
              <a:t>개발 속도 및 신뢰성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Demo/MVP의 </a:t>
            </a:r>
            <a:r>
              <a:rPr i="0" sz="1400" b="1">
                <a:solidFill>
                  <a:srgbClr val="4B5563"/>
                </a:solidFill>
                <a:latin typeface="Noto Sans KR"/>
              </a:rPr>
              <a:t>신속한 구현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과 실제 운영 환경에서의 </a:t>
            </a:r>
            <a:r>
              <a:rPr i="0" sz="1400" b="1">
                <a:solidFill>
                  <a:srgbClr val="4B5563"/>
                </a:solidFill>
                <a:latin typeface="Noto Sans KR"/>
              </a:rPr>
              <a:t>확장성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을 동시 고려</a:t>
            </a:r>
          </a:p>
        </p:txBody>
      </p:sp>
      <p:pic>
        <p:nvPicPr>
          <p:cNvPr id="51" name="Picture 50" descr="52aff847-489e-45f0-b8a6-e46223d36b6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90000" y="6731000"/>
            <a:ext cx="203200" cy="2032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245600" y="6680200"/>
            <a:ext cx="5740400" cy="647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i="0" sz="1600" b="1">
                <a:solidFill>
                  <a:srgbClr val="1F2937"/>
                </a:solidFill>
                <a:latin typeface="Noto Sans KR"/>
              </a:rPr>
              <a:t>워크플로 자동화 최적화</a:t>
            </a:r>
            <a:r>
              <a:rPr i="0" sz="1400" b="1">
                <a:solidFill>
                  <a:srgbClr val="4B5563"/>
                </a:solidFill>
                <a:latin typeface="Noto Sans KR"/>
              </a:rPr>
              <a:t>마감기한 자동 추출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 등 지능형 워크플로 기반 서비스 구현에 가장 적합한 조합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33500" y="7264400"/>
            <a:ext cx="7366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002D5D"/>
                </a:solidFill>
                <a:latin typeface="Noto Sans KR"/>
              </a:defRPr>
            </a:pPr>
            <a:r>
              <a:rPr i="0" sz="1200" b="1">
                <a:solidFill>
                  <a:srgbClr val="002D5D"/>
                </a:solidFill>
                <a:latin typeface="Noto Sans KR"/>
              </a:rPr>
              <a:t>선정 배경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2800" y="8293100"/>
            <a:ext cx="10922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9CA3AF"/>
                </a:solidFill>
                <a:latin typeface="Noto Sans KR"/>
              </a:defRPr>
            </a:pPr>
            <a:r>
              <a:rPr i="0" sz="1200" b="1">
                <a:solidFill>
                  <a:srgbClr val="9CA3AF"/>
                </a:solidFill>
                <a:latin typeface="Noto Sans KR"/>
              </a:rPr>
              <a:t>DATE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86000" y="8293100"/>
            <a:ext cx="14859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9CA3AF"/>
                </a:solidFill>
                <a:latin typeface="Noto Sans KR"/>
              </a:defRPr>
            </a:pPr>
            <a:r>
              <a:rPr i="0" sz="1200" b="1">
                <a:solidFill>
                  <a:srgbClr val="9CA3AF"/>
                </a:solidFill>
                <a:latin typeface="Noto Sans KR"/>
              </a:rPr>
              <a:t>CATEGORY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643100" y="8394700"/>
            <a:ext cx="4953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defRPr i="0" sz="2400" b="1">
                <a:solidFill>
                  <a:srgbClr val="002D5D"/>
                </a:solidFill>
                <a:latin typeface="Noto Sans KR"/>
              </a:defRPr>
            </a:pPr>
            <a:r>
              <a:rPr i="0" sz="2400" b="1">
                <a:solidFill>
                  <a:srgbClr val="002D5D"/>
                </a:solidFill>
                <a:latin typeface="Noto Sans KR"/>
              </a:rPr>
              <a:t>05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113000" y="8470900"/>
            <a:ext cx="457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D1D5DB"/>
                </a:solidFill>
                <a:latin typeface="Noto Sans KR"/>
              </a:defRPr>
            </a:pPr>
            <a:r>
              <a:rPr i="0" sz="1400" b="1">
                <a:solidFill>
                  <a:srgbClr val="D1D5DB"/>
                </a:solidFill>
                <a:latin typeface="Noto Sans KR"/>
              </a:rPr>
              <a:t>/ 12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2800" y="8547100"/>
            <a:ext cx="1092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002D5D"/>
                </a:solidFill>
                <a:latin typeface="Noto Sans KR"/>
              </a:defRPr>
            </a:pPr>
            <a:r>
              <a:rPr i="0" sz="1400" b="1">
                <a:solidFill>
                  <a:srgbClr val="002D5D"/>
                </a:solidFill>
                <a:latin typeface="Noto Sans KR"/>
              </a:rPr>
              <a:t>2026-03-18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86000" y="8547100"/>
            <a:ext cx="14859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002D5D"/>
                </a:solidFill>
                <a:latin typeface="Noto Sans KR"/>
              </a:defRPr>
            </a:pPr>
            <a:r>
              <a:rPr i="0" sz="1400" b="1">
                <a:solidFill>
                  <a:srgbClr val="002D5D"/>
                </a:solidFill>
                <a:latin typeface="Noto Sans KR"/>
              </a:rPr>
              <a:t>Technical Stack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762000"/>
            <a:ext cx="6807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9CA3AF"/>
                </a:solidFill>
                <a:latin typeface="Noto Sans KR"/>
              </a:defRPr>
            </a:pPr>
            <a:r>
              <a:rPr i="0" sz="2000" b="1">
                <a:solidFill>
                  <a:srgbClr val="9CA3AF"/>
                </a:solidFill>
                <a:latin typeface="Noto Sans KR"/>
              </a:rPr>
              <a:t>Streamlit–FastAPI–Gemini 통합 흐름</a:t>
            </a:r>
          </a:p>
        </p:txBody>
      </p:sp>
      <p:pic>
        <p:nvPicPr>
          <p:cNvPr id="3" name="Picture 2" descr="192013df-f8eb-46d1-bb2b-4ec32464e3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0" y="762000"/>
            <a:ext cx="2032000" cy="571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6000" y="1219200"/>
            <a:ext cx="68072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defRPr i="0" sz="4800" b="1">
                <a:solidFill>
                  <a:srgbClr val="002D5D"/>
                </a:solidFill>
                <a:latin typeface="Noto Sans KR"/>
              </a:defRPr>
            </a:pPr>
            <a:r>
              <a:rPr i="0" sz="4800" b="1">
                <a:solidFill>
                  <a:srgbClr val="002D5D"/>
                </a:solidFill>
                <a:latin typeface="Noto Sans KR"/>
              </a:rPr>
              <a:t>전체 시스템 동작 프로세스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6000" y="2184400"/>
            <a:ext cx="1016000" cy="101600"/>
          </a:xfrm>
          <a:prstGeom prst="rect">
            <a:avLst/>
          </a:prstGeom>
          <a:solidFill>
            <a:srgbClr val="002D5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917700" y="3556000"/>
            <a:ext cx="635000" cy="635000"/>
          </a:xfrm>
          <a:prstGeom prst="roundRect">
            <a:avLst>
              <a:gd name="adj" fmla="val 50000"/>
            </a:avLst>
          </a:prstGeom>
          <a:solidFill>
            <a:srgbClr val="002D5D"/>
          </a:solidFill>
          <a:ln>
            <a:noFill/>
          </a:ln>
          <a:effectLst>
            <a:outerShdw blurRad="127000" dir="90000" dist="50800" rotWithShape="0">
              <a:srgbClr val="002d5d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i="0" sz="2000" b="1">
                <a:solidFill>
                  <a:srgbClr val="FFFFFF"/>
                </a:solidFill>
                <a:latin typeface="Noto Sans KR"/>
              </a:defRPr>
            </a:pPr>
            <a:r>
              <a:rPr i="0" sz="2000" b="1">
                <a:solidFill>
                  <a:srgbClr val="FFFFFF"/>
                </a:solidFill>
                <a:latin typeface="Noto Sans KR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64100" y="3556000"/>
            <a:ext cx="635000" cy="635000"/>
          </a:xfrm>
          <a:prstGeom prst="roundRect">
            <a:avLst>
              <a:gd name="adj" fmla="val 50000"/>
            </a:avLst>
          </a:prstGeom>
          <a:solidFill>
            <a:srgbClr val="002D5D"/>
          </a:solidFill>
          <a:ln>
            <a:noFill/>
          </a:ln>
          <a:effectLst>
            <a:outerShdw blurRad="127000" dir="90000" dist="50800" rotWithShape="0">
              <a:srgbClr val="002d5d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i="0" sz="2000" b="1">
                <a:solidFill>
                  <a:srgbClr val="FFFFFF"/>
                </a:solidFill>
                <a:latin typeface="Noto Sans KR"/>
              </a:defRPr>
            </a:pPr>
            <a:r>
              <a:rPr i="0" sz="2000" b="1">
                <a:solidFill>
                  <a:srgbClr val="FFFFFF"/>
                </a:solidFill>
                <a:latin typeface="Noto Sans KR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0500" y="3556000"/>
            <a:ext cx="635000" cy="635000"/>
          </a:xfrm>
          <a:prstGeom prst="roundRect">
            <a:avLst>
              <a:gd name="adj" fmla="val 50000"/>
            </a:avLst>
          </a:prstGeom>
          <a:solidFill>
            <a:srgbClr val="002D5D"/>
          </a:solidFill>
          <a:ln>
            <a:noFill/>
          </a:ln>
          <a:effectLst>
            <a:outerShdw blurRad="127000" dir="90000" dist="50800" rotWithShape="0">
              <a:srgbClr val="002d5d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i="0" sz="2000" b="1">
                <a:solidFill>
                  <a:srgbClr val="FFFFFF"/>
                </a:solidFill>
                <a:latin typeface="Noto Sans KR"/>
              </a:defRPr>
            </a:pPr>
            <a:r>
              <a:rPr i="0" sz="2000" b="1">
                <a:solidFill>
                  <a:srgbClr val="FFFFFF"/>
                </a:solidFill>
                <a:latin typeface="Noto Sans KR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56900" y="3556000"/>
            <a:ext cx="635000" cy="635000"/>
          </a:xfrm>
          <a:prstGeom prst="roundRect">
            <a:avLst>
              <a:gd name="adj" fmla="val 50000"/>
            </a:avLst>
          </a:prstGeom>
          <a:solidFill>
            <a:srgbClr val="002D5D"/>
          </a:solidFill>
          <a:ln>
            <a:noFill/>
          </a:ln>
          <a:effectLst>
            <a:outerShdw blurRad="127000" dir="90000" dist="50800" rotWithShape="0">
              <a:srgbClr val="002d5d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i="0" sz="2000" b="1">
                <a:solidFill>
                  <a:srgbClr val="FFFFFF"/>
                </a:solidFill>
                <a:latin typeface="Noto Sans KR"/>
              </a:defRPr>
            </a:pPr>
            <a:r>
              <a:rPr i="0" sz="2000" b="1">
                <a:solidFill>
                  <a:srgbClr val="FFFFFF"/>
                </a:solidFill>
                <a:latin typeface="Noto Sans KR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03300" y="3556000"/>
            <a:ext cx="635000" cy="635000"/>
          </a:xfrm>
          <a:prstGeom prst="roundRect">
            <a:avLst>
              <a:gd name="adj" fmla="val 50000"/>
            </a:avLst>
          </a:prstGeom>
          <a:solidFill>
            <a:srgbClr val="002D5D"/>
          </a:solidFill>
          <a:ln>
            <a:noFill/>
          </a:ln>
          <a:effectLst>
            <a:outerShdw blurRad="127000" dir="90000" dist="50800" rotWithShape="0">
              <a:srgbClr val="002d5d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i="0" sz="2000" b="1">
                <a:solidFill>
                  <a:srgbClr val="FFFFFF"/>
                </a:solidFill>
                <a:latin typeface="Noto Sans KR"/>
              </a:defRPr>
            </a:pPr>
            <a:r>
              <a:rPr i="0" sz="2000" b="1">
                <a:solidFill>
                  <a:srgbClr val="FFFFFF"/>
                </a:solidFill>
                <a:latin typeface="Noto Sans KR"/>
              </a:rPr>
              <a:t>05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97000" y="3873500"/>
            <a:ext cx="13462000" cy="25400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01700" y="4445000"/>
            <a:ext cx="2667000" cy="22860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100" rIns="165100" tIns="228600" bIns="22860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48100" y="4445000"/>
            <a:ext cx="2667000" cy="22860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100" rIns="165100" tIns="228600" bIns="22860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94500" y="4445000"/>
            <a:ext cx="2667000" cy="22860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100" rIns="165100" tIns="228600" bIns="22860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740900" y="4445000"/>
            <a:ext cx="2667000" cy="22860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100" rIns="165100" tIns="228600" bIns="228600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2687300" y="4445000"/>
            <a:ext cx="2667000" cy="22860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100" rIns="165100" tIns="228600" bIns="228600"/>
          <a:lstStyle/>
          <a:p>
            <a:pPr algn="ctr"/>
          </a:p>
        </p:txBody>
      </p:sp>
      <p:pic>
        <p:nvPicPr>
          <p:cNvPr id="17" name="Picture 16" descr="9e39b5eb-f296-4ac9-8a77-baa81a9679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100" y="4711700"/>
            <a:ext cx="342900" cy="406400"/>
          </a:xfrm>
          <a:prstGeom prst="rect">
            <a:avLst/>
          </a:prstGeom>
        </p:spPr>
      </p:pic>
      <p:pic>
        <p:nvPicPr>
          <p:cNvPr id="18" name="Picture 17" descr="9cbfe2a2-82f1-45be-8a64-ad92279735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4711700"/>
            <a:ext cx="304800" cy="406400"/>
          </a:xfrm>
          <a:prstGeom prst="rect">
            <a:avLst/>
          </a:prstGeom>
        </p:spPr>
      </p:pic>
      <p:pic>
        <p:nvPicPr>
          <p:cNvPr id="19" name="Picture 18" descr="099beb95-4fc7-4669-a5d0-3c0bbb24ae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600" y="4711700"/>
            <a:ext cx="304800" cy="406400"/>
          </a:xfrm>
          <a:prstGeom prst="rect">
            <a:avLst/>
          </a:prstGeom>
        </p:spPr>
      </p:pic>
      <p:pic>
        <p:nvPicPr>
          <p:cNvPr id="20" name="Picture 19" descr="26e52496-3705-4a3b-ac5b-9cc3cce794e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0100" y="4711700"/>
            <a:ext cx="228600" cy="406400"/>
          </a:xfrm>
          <a:prstGeom prst="rect">
            <a:avLst/>
          </a:prstGeom>
        </p:spPr>
      </p:pic>
      <p:pic>
        <p:nvPicPr>
          <p:cNvPr id="21" name="Picture 20" descr="92b6d77c-2a31-4a01-8692-284b729be89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55700" y="4711700"/>
            <a:ext cx="342900" cy="406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04900" y="5270500"/>
            <a:ext cx="23876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600" b="1">
                <a:solidFill>
                  <a:srgbClr val="002D5D"/>
                </a:solidFill>
                <a:latin typeface="Noto Sans KR"/>
              </a:defRPr>
            </a:pPr>
            <a:r>
              <a:rPr i="0" sz="1600" b="1">
                <a:solidFill>
                  <a:srgbClr val="002D5D"/>
                </a:solidFill>
                <a:latin typeface="Noto Sans KR"/>
              </a:rPr>
              <a:t>사용자 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1300" y="5270500"/>
            <a:ext cx="23876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600" b="1">
                <a:solidFill>
                  <a:srgbClr val="002D5D"/>
                </a:solidFill>
                <a:latin typeface="Noto Sans KR"/>
              </a:defRPr>
            </a:pPr>
            <a:r>
              <a:rPr i="0" sz="1600" b="1">
                <a:solidFill>
                  <a:srgbClr val="002D5D"/>
                </a:solidFill>
                <a:latin typeface="Noto Sans KR"/>
              </a:rPr>
              <a:t>요청 전달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7700" y="5270500"/>
            <a:ext cx="23876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600" b="1">
                <a:solidFill>
                  <a:srgbClr val="002D5D"/>
                </a:solidFill>
                <a:latin typeface="Noto Sans KR"/>
              </a:defRPr>
            </a:pPr>
            <a:r>
              <a:rPr i="0" sz="1600" b="1">
                <a:solidFill>
                  <a:srgbClr val="002D5D"/>
                </a:solidFill>
                <a:latin typeface="Noto Sans KR"/>
              </a:rPr>
              <a:t>백엔드 처리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4100" y="5270500"/>
            <a:ext cx="23876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600" b="1">
                <a:solidFill>
                  <a:srgbClr val="002D5D"/>
                </a:solidFill>
                <a:latin typeface="Noto Sans KR"/>
              </a:defRPr>
            </a:pPr>
            <a:r>
              <a:rPr i="0" sz="1600" b="1">
                <a:solidFill>
                  <a:srgbClr val="002D5D"/>
                </a:solidFill>
                <a:latin typeface="Noto Sans KR"/>
              </a:rPr>
              <a:t>AI 응답 생성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90500" y="5270500"/>
            <a:ext cx="23876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600" b="1">
                <a:solidFill>
                  <a:srgbClr val="002D5D"/>
                </a:solidFill>
                <a:latin typeface="Noto Sans KR"/>
              </a:defRPr>
            </a:pPr>
            <a:r>
              <a:rPr i="0" sz="1600" b="1">
                <a:solidFill>
                  <a:srgbClr val="002D5D"/>
                </a:solidFill>
                <a:latin typeface="Noto Sans KR"/>
              </a:rPr>
              <a:t>시각화 &amp; 연동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87500" y="5664200"/>
            <a:ext cx="1422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400" b="0">
                <a:solidFill>
                  <a:srgbClr val="4B5563"/>
                </a:solidFill>
                <a:latin typeface="Noto Sans KR"/>
              </a:rPr>
              <a:t>회의 일자 선택 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1200" y="5664200"/>
            <a:ext cx="1447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400" b="0">
                <a:solidFill>
                  <a:srgbClr val="4B5563"/>
                </a:solidFill>
                <a:latin typeface="Noto Sans KR"/>
              </a:rPr>
              <a:t>Streamlit UI에서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1200" y="5664200"/>
            <a:ext cx="22479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i="0" sz="1400" b="1">
                <a:solidFill>
                  <a:srgbClr val="4B5563"/>
                </a:solidFill>
                <a:latin typeface="Noto Sans KR"/>
              </a:rPr>
              <a:t>Pydantic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 입력 검증 및 f-string 기반 </a:t>
            </a:r>
            <a:r>
              <a:rPr i="0" sz="1400" b="1">
                <a:solidFill>
                  <a:srgbClr val="4B5563"/>
                </a:solidFill>
                <a:latin typeface="Noto Sans KR"/>
              </a:rPr>
              <a:t>Gemini AI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 호출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99700" y="5664200"/>
            <a:ext cx="1676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400" b="0">
                <a:solidFill>
                  <a:srgbClr val="4B5563"/>
                </a:solidFill>
                <a:latin typeface="Noto Sans KR"/>
              </a:rPr>
              <a:t>요약·Action Item 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15900" y="5664200"/>
            <a:ext cx="23495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400" b="0">
                <a:solidFill>
                  <a:srgbClr val="4B5563"/>
                </a:solidFill>
                <a:latin typeface="Noto Sans KR"/>
              </a:rPr>
              <a:t>결과 대시보드 출력 및 </a:t>
            </a:r>
            <a:r>
              <a:rPr i="0" sz="1400" b="1">
                <a:solidFill>
                  <a:srgbClr val="4B5563"/>
                </a:solidFill>
                <a:latin typeface="Noto Sans KR"/>
              </a:rPr>
              <a:t>캘린더·팀 공유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 추가 액션 실행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57300" y="5905500"/>
            <a:ext cx="20701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i="0" sz="1400" b="1">
                <a:solidFill>
                  <a:srgbClr val="4B5563"/>
                </a:solidFill>
                <a:latin typeface="Noto Sans KR"/>
              </a:rPr>
              <a:t>비정형 회의록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 데이터 입력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30700" y="5905500"/>
            <a:ext cx="18288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i="0" sz="1400" b="1">
                <a:solidFill>
                  <a:srgbClr val="4B5563"/>
                </a:solidFill>
                <a:latin typeface="Noto Sans KR"/>
              </a:rPr>
              <a:t>HTTP POST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 방식으로 FastAPI에 데이터 전송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20300" y="5905500"/>
            <a:ext cx="22352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400" b="0">
                <a:solidFill>
                  <a:srgbClr val="4B5563"/>
                </a:solidFill>
                <a:latin typeface="Noto Sans KR"/>
              </a:rPr>
              <a:t>구조화된 </a:t>
            </a:r>
            <a:r>
              <a:rPr i="0" sz="1400" b="1">
                <a:solidFill>
                  <a:srgbClr val="4B5563"/>
                </a:solidFill>
                <a:latin typeface="Noto Sans KR"/>
              </a:rPr>
              <a:t>JSON 데이터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 결과 반환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2000" y="7340600"/>
            <a:ext cx="14732000" cy="762000"/>
          </a:xfrm>
          <a:prstGeom prst="roundRect">
            <a:avLst>
              <a:gd name="adj" fmla="val 20000"/>
            </a:avLst>
          </a:prstGeom>
          <a:solidFill>
            <a:srgbClr val="EFF6FF">
              <a:alpha val="50000"/>
            </a:srgbClr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228600" tIns="228600" bIns="228600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762000" y="7340600"/>
            <a:ext cx="0" cy="762000"/>
          </a:xfrm>
          <a:prstGeom prst="line">
            <a:avLst/>
          </a:prstGeom>
          <a:ln w="50800">
            <a:solidFill>
              <a:srgbClr val="002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f6f39f74-f7b8-4314-b2d2-058611e0169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" y="7620000"/>
            <a:ext cx="203200" cy="2032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422400" y="7594600"/>
            <a:ext cx="134747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i="0" sz="1400" b="1">
                <a:solidFill>
                  <a:srgbClr val="374151"/>
                </a:solidFill>
                <a:latin typeface="Noto Sans KR"/>
              </a:rPr>
              <a:t>데이터 흐름 요약:</a:t>
            </a:r>
            <a:r>
              <a:rPr i="0" sz="1400" b="0">
                <a:solidFill>
                  <a:srgbClr val="374151"/>
                </a:solidFill>
                <a:latin typeface="Noto Sans KR"/>
              </a:rPr>
              <a:t> 클라이언트(Streamlit)와 서버(FastAPI) 간의 </a:t>
            </a:r>
            <a:r>
              <a:rPr i="0" sz="1400" b="1">
                <a:solidFill>
                  <a:srgbClr val="374151"/>
                </a:solidFill>
                <a:latin typeface="Noto Sans KR"/>
              </a:rPr>
              <a:t>비동기 통신</a:t>
            </a:r>
            <a:r>
              <a:rPr i="0" sz="1400" b="0">
                <a:solidFill>
                  <a:srgbClr val="374151"/>
                </a:solidFill>
                <a:latin typeface="Noto Sans KR"/>
              </a:rPr>
              <a:t>을 통해 사용자 대기 시간을 최소화하고, Gemini의 </a:t>
            </a:r>
            <a:r>
              <a:rPr i="0" sz="1400" b="1">
                <a:solidFill>
                  <a:srgbClr val="374151"/>
                </a:solidFill>
                <a:latin typeface="Noto Sans KR"/>
              </a:rPr>
              <a:t>JSON 모드</a:t>
            </a:r>
            <a:r>
              <a:rPr i="0" sz="1400" b="0">
                <a:solidFill>
                  <a:srgbClr val="374151"/>
                </a:solidFill>
                <a:latin typeface="Noto Sans KR"/>
              </a:rPr>
              <a:t>를 활용하여 데이터 일관성을 확보합니다.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2800" y="8610600"/>
            <a:ext cx="10922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9CA3AF"/>
                </a:solidFill>
                <a:latin typeface="Noto Sans KR"/>
              </a:defRPr>
            </a:pPr>
            <a:r>
              <a:rPr i="0" sz="1200" b="1">
                <a:solidFill>
                  <a:srgbClr val="9CA3AF"/>
                </a:solidFill>
                <a:latin typeface="Noto Sans KR"/>
              </a:rPr>
              <a:t>DATE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8610600"/>
            <a:ext cx="14859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9CA3AF"/>
                </a:solidFill>
                <a:latin typeface="Noto Sans KR"/>
              </a:defRPr>
            </a:pPr>
            <a:r>
              <a:rPr i="0" sz="1200" b="1">
                <a:solidFill>
                  <a:srgbClr val="9CA3AF"/>
                </a:solidFill>
                <a:latin typeface="Noto Sans KR"/>
              </a:rPr>
              <a:t>TARGET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643100" y="8712200"/>
            <a:ext cx="4953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defRPr i="0" sz="2400" b="1">
                <a:solidFill>
                  <a:srgbClr val="002D5D"/>
                </a:solidFill>
                <a:latin typeface="Noto Sans KR"/>
              </a:defRPr>
            </a:pPr>
            <a:r>
              <a:rPr i="0" sz="2400" b="1">
                <a:solidFill>
                  <a:srgbClr val="002D5D"/>
                </a:solidFill>
                <a:latin typeface="Noto Sans KR"/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113000" y="8788400"/>
            <a:ext cx="457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D1D5DB"/>
                </a:solidFill>
                <a:latin typeface="Noto Sans KR"/>
              </a:defRPr>
            </a:pPr>
            <a:r>
              <a:rPr i="0" sz="1400" b="1">
                <a:solidFill>
                  <a:srgbClr val="D1D5DB"/>
                </a:solidFill>
                <a:latin typeface="Noto Sans KR"/>
              </a:rPr>
              <a:t>/ 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2800" y="8864600"/>
            <a:ext cx="1092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002D5D"/>
                </a:solidFill>
                <a:latin typeface="Noto Sans KR"/>
              </a:defRPr>
            </a:pPr>
            <a:r>
              <a:rPr i="0" sz="1400" b="1">
                <a:solidFill>
                  <a:srgbClr val="002D5D"/>
                </a:solidFill>
                <a:latin typeface="Noto Sans KR"/>
              </a:rPr>
              <a:t>2026-03-18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6000" y="8864600"/>
            <a:ext cx="14859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002D5D"/>
                </a:solidFill>
                <a:latin typeface="Noto Sans KR"/>
              </a:defRPr>
            </a:pPr>
            <a:r>
              <a:rPr i="0" sz="1400" b="1">
                <a:solidFill>
                  <a:srgbClr val="002D5D"/>
                </a:solidFill>
                <a:latin typeface="Noto Sans KR"/>
              </a:rPr>
              <a:t>기술직 포트폴리오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6000" y="8839200"/>
            <a:ext cx="14224000" cy="1041400"/>
          </a:xfrm>
          <a:prstGeom prst="roundRect">
            <a:avLst>
              <a:gd name="adj" fmla="val 9756"/>
            </a:avLst>
          </a:prstGeom>
          <a:solidFill>
            <a:srgbClr val="F9FAF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228600" tIns="228600" bIns="22860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270000" y="91186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60800" y="9118600"/>
            <a:ext cx="2768600" cy="5080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79900" y="91186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762000"/>
            <a:ext cx="11684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9CA3AF"/>
                </a:solidFill>
                <a:latin typeface="Noto Sans KR"/>
              </a:defRPr>
            </a:pPr>
            <a:r>
              <a:rPr i="0" sz="2000" b="1">
                <a:solidFill>
                  <a:srgbClr val="9CA3AF"/>
                </a:solidFill>
                <a:latin typeface="Noto Sans KR"/>
              </a:rPr>
              <a:t>언제, 누가, 무엇을 정확히 파악하는 AI 자동화</a:t>
            </a:r>
          </a:p>
        </p:txBody>
      </p:sp>
      <p:pic>
        <p:nvPicPr>
          <p:cNvPr id="7" name="Picture 6" descr="192013df-f8eb-46d1-bb2b-4ec32464e3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0" y="762000"/>
            <a:ext cx="2032000" cy="571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16000" y="1219200"/>
            <a:ext cx="11684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defRPr i="0" sz="4800" b="1">
                <a:solidFill>
                  <a:srgbClr val="002D5D"/>
                </a:solidFill>
                <a:latin typeface="Noto Sans KR"/>
              </a:defRPr>
            </a:pPr>
            <a:r>
              <a:rPr i="0" sz="4800" b="1">
                <a:solidFill>
                  <a:srgbClr val="002D5D"/>
                </a:solidFill>
                <a:latin typeface="Noto Sans KR"/>
              </a:rPr>
              <a:t>핵심 기능 I - 회의 요약 및 Action Item 추출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184400"/>
            <a:ext cx="1016000" cy="101600"/>
          </a:xfrm>
          <a:prstGeom prst="rect">
            <a:avLst/>
          </a:prstGeom>
          <a:solidFill>
            <a:srgbClr val="002D5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667000"/>
            <a:ext cx="6959600" cy="18542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016000" y="2667000"/>
            <a:ext cx="0" cy="1854200"/>
          </a:xfrm>
          <a:prstGeom prst="line">
            <a:avLst/>
          </a:prstGeom>
          <a:ln w="50800">
            <a:solidFill>
              <a:srgbClr val="002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280400" y="2667000"/>
            <a:ext cx="6959600" cy="18542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8280400" y="2667000"/>
            <a:ext cx="0" cy="1854200"/>
          </a:xfrm>
          <a:prstGeom prst="line">
            <a:avLst/>
          </a:prstGeom>
          <a:ln w="50800">
            <a:solidFill>
              <a:srgbClr val="002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55b008df-86c8-411f-ba22-7541dbb151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800" y="2946400"/>
            <a:ext cx="177800" cy="203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00200" y="2921000"/>
            <a:ext cx="1828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002D5D"/>
                </a:solidFill>
                <a:latin typeface="Noto Sans KR"/>
              </a:defRPr>
            </a:pPr>
            <a:r>
              <a:rPr i="0" sz="1400" b="1">
                <a:solidFill>
                  <a:srgbClr val="002D5D"/>
                </a:solidFill>
                <a:latin typeface="Noto Sans KR"/>
              </a:rPr>
              <a:t>GEMINI SUMMARY</a:t>
            </a:r>
          </a:p>
        </p:txBody>
      </p:sp>
      <p:pic>
        <p:nvPicPr>
          <p:cNvPr id="16" name="Picture 15" descr="e0b55df5-a0e8-4546-8894-c277df613b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5200" y="2946400"/>
            <a:ext cx="254000" cy="20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940800" y="2921000"/>
            <a:ext cx="2565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002D5D"/>
                </a:solidFill>
                <a:latin typeface="Noto Sans KR"/>
              </a:defRPr>
            </a:pPr>
            <a:r>
              <a:rPr i="0" sz="1400" b="1">
                <a:solidFill>
                  <a:srgbClr val="002D5D"/>
                </a:solidFill>
                <a:latin typeface="Noto Sans KR"/>
              </a:rPr>
              <a:t>PYDANTIC ENFORCEMENT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0800" y="3289300"/>
            <a:ext cx="6426200" cy="96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600" b="0">
                <a:solidFill>
                  <a:srgbClr val="374151"/>
                </a:solidFill>
                <a:latin typeface="Noto Sans KR"/>
              </a:rPr>
              <a:t>복잡한 </a:t>
            </a:r>
            <a:r>
              <a:rPr i="0" sz="1600" b="1">
                <a:solidFill>
                  <a:srgbClr val="374151"/>
                </a:solidFill>
                <a:latin typeface="Noto Sans KR"/>
              </a:rPr>
              <a:t>비정형 텍스트 회의록</a:t>
            </a:r>
            <a:r>
              <a:rPr i="0" sz="1600" b="0">
                <a:solidFill>
                  <a:srgbClr val="374151"/>
                </a:solidFill>
                <a:latin typeface="Noto Sans KR"/>
              </a:rPr>
              <a:t>을 분석하여 핵심 맥락을 </a:t>
            </a:r>
            <a:r>
              <a:rPr i="0" sz="1600" b="1">
                <a:solidFill>
                  <a:srgbClr val="374151"/>
                </a:solidFill>
                <a:latin typeface="Noto Sans KR"/>
              </a:rPr>
              <a:t>1~2줄로 즉시 요약</a:t>
            </a:r>
            <a:r>
              <a:rPr i="0" sz="1600" b="0">
                <a:solidFill>
                  <a:srgbClr val="374151"/>
                </a:solidFill>
                <a:latin typeface="Noto Sans KR"/>
              </a:rPr>
              <a:t>합니다. 회의의 본질을 한눈에 파악할 수 있는 고도화된 추론 기능을 제공합니다.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85200" y="3289300"/>
            <a:ext cx="6515100" cy="96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i="0" sz="1600" b="1">
                <a:solidFill>
                  <a:srgbClr val="374151"/>
                </a:solidFill>
                <a:latin typeface="Noto Sans KR"/>
              </a:rPr>
              <a:t>Pydantic 스키마</a:t>
            </a:r>
            <a:r>
              <a:rPr i="0" sz="1600" b="0">
                <a:solidFill>
                  <a:srgbClr val="374151"/>
                </a:solidFill>
                <a:latin typeface="Noto Sans KR"/>
              </a:rPr>
              <a:t>를 통한 응답 포맷 강제로 </a:t>
            </a:r>
            <a:r>
              <a:rPr i="0" sz="1600" b="1">
                <a:solidFill>
                  <a:srgbClr val="374151"/>
                </a:solidFill>
                <a:latin typeface="Noto Sans KR"/>
              </a:rPr>
              <a:t>데이터 일관성</a:t>
            </a:r>
            <a:r>
              <a:rPr i="0" sz="1600" b="0">
                <a:solidFill>
                  <a:srgbClr val="374151"/>
                </a:solidFill>
                <a:latin typeface="Noto Sans KR"/>
              </a:rPr>
              <a:t>을 확보합니다. 정제된 JSON 구조를 통해 외부 시스템과의 자동 연동 및 파싱 효율을 극대화합니다.</a:t>
            </a:r>
          </a:p>
        </p:txBody>
      </p:sp>
      <p:pic>
        <p:nvPicPr>
          <p:cNvPr id="20" name="Picture 19" descr="65cf7c63-3c76-47f6-8144-6110f7f3293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600" y="4991100"/>
            <a:ext cx="228600" cy="228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47800" y="4940300"/>
            <a:ext cx="3098800" cy="33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i="0" sz="1800" b="1">
                <a:solidFill>
                  <a:srgbClr val="1F2937"/>
                </a:solidFill>
                <a:latin typeface="Noto Sans KR"/>
              </a:defRPr>
            </a:pPr>
            <a:r>
              <a:rPr i="0" sz="1800" b="1">
                <a:solidFill>
                  <a:srgbClr val="1F2937"/>
                </a:solidFill>
                <a:latin typeface="Noto Sans KR"/>
              </a:rPr>
              <a:t>실시간 Action Item 추출 예시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79400" y="5003800"/>
            <a:ext cx="2286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0">
                <a:solidFill>
                  <a:srgbClr val="6B7280"/>
                </a:solidFill>
                <a:latin typeface="Noto Sans KR"/>
              </a:defRPr>
            </a:pPr>
            <a:r>
              <a:rPr i="0" sz="1200" b="0">
                <a:solidFill>
                  <a:srgbClr val="6B7280"/>
                </a:solidFill>
                <a:latin typeface="Noto Sans KR"/>
              </a:rPr>
              <a:t>*프론트엔드 렌더링 결과 미리보기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016000" y="5435600"/>
          <a:ext cx="14236700" cy="3022600"/>
        </p:xfrm>
        <a:graphic>
          <a:graphicData uri="http://schemas.openxmlformats.org/drawingml/2006/table">
            <a:tbl>
              <a:tblPr/>
              <a:tblGrid>
                <a:gridCol w="7112000"/>
                <a:gridCol w="2374900"/>
                <a:gridCol w="2374900"/>
                <a:gridCol w="2374900"/>
              </a:tblGrid>
              <a:tr h="698500">
                <a:tc>
                  <a:txBody>
                    <a:bodyPr wrap="square"/>
                    <a:lstStyle/>
                    <a:p>
                      <a:pPr algn="l">
                        <a:defRPr i="0" sz="1500" b="1">
                          <a:solidFill>
                            <a:srgbClr val="FFFFFF"/>
                          </a:solidFill>
                          <a:latin typeface="Noto Sans KR"/>
                        </a:defRPr>
                      </a:pPr>
                      <a:r>
                        <a:rPr i="0" sz="1500" b="1">
                          <a:solidFill>
                            <a:srgbClr val="FFFFFF"/>
                          </a:solidFill>
                          <a:latin typeface="Noto Sans KR"/>
                        </a:rPr>
                        <a:t>업무 내용 (Task)</a:t>
                      </a:r>
                    </a:p>
                  </a:txBody>
                  <a:tcPr marL="203200" marR="203200" marT="203200" marB="203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2D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i="0" sz="1500" b="1">
                          <a:solidFill>
                            <a:srgbClr val="FFFFFF"/>
                          </a:solidFill>
                          <a:latin typeface="Noto Sans KR"/>
                        </a:defRPr>
                      </a:pPr>
                      <a:r>
                        <a:rPr i="0" sz="1500" b="1">
                          <a:solidFill>
                            <a:srgbClr val="FFFFFF"/>
                          </a:solidFill>
                          <a:latin typeface="Noto Sans KR"/>
                        </a:rPr>
                        <a:t>담당자</a:t>
                      </a:r>
                    </a:p>
                  </a:txBody>
                  <a:tcPr marL="203200" marR="203200" marT="203200" marB="203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2D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i="0" sz="1500" b="1">
                          <a:solidFill>
                            <a:srgbClr val="FFFFFF"/>
                          </a:solidFill>
                          <a:latin typeface="Noto Sans KR"/>
                        </a:defRPr>
                      </a:pPr>
                      <a:r>
                        <a:rPr i="0" sz="1500" b="1">
                          <a:solidFill>
                            <a:srgbClr val="FFFFFF"/>
                          </a:solidFill>
                          <a:latin typeface="Noto Sans KR"/>
                        </a:rPr>
                        <a:t>마감 기한</a:t>
                      </a:r>
                    </a:p>
                  </a:txBody>
                  <a:tcPr marL="203200" marR="203200" marT="203200" marB="203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2D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i="0" sz="1500" b="1">
                          <a:solidFill>
                            <a:srgbClr val="FFFFFF"/>
                          </a:solidFill>
                          <a:latin typeface="Noto Sans KR"/>
                        </a:defRPr>
                      </a:pPr>
                      <a:r>
                        <a:rPr i="0" sz="1500" b="1">
                          <a:solidFill>
                            <a:srgbClr val="FFFFFF"/>
                          </a:solidFill>
                          <a:latin typeface="Noto Sans KR"/>
                        </a:rPr>
                        <a:t>우선순위</a:t>
                      </a:r>
                    </a:p>
                  </a:txBody>
                  <a:tcPr marL="203200" marR="203200" marT="203200" marB="203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2D5D"/>
                    </a:solidFill>
                  </a:tcPr>
                </a:tc>
              </a:tr>
              <a:tr h="774700">
                <a:tc>
                  <a:txBody>
                    <a:bodyPr wrap="square"/>
                    <a:lstStyle/>
                    <a:p>
                      <a:pPr algn="l"/>
                      <a:r>
                        <a:rPr i="0" sz="1500" b="0">
                          <a:solidFill>
                            <a:srgbClr val="334155"/>
                          </a:solidFill>
                          <a:latin typeface="Noto Sans KR"/>
                        </a:rPr>
                        <a:t>AI 자동화 솔루션 API 규격서 초안 작성 및 검토</a:t>
                      </a:r>
                    </a:p>
                  </a:txBody>
                  <a:tcPr marL="203200" marR="203200" marT="228600" marB="228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 cmpd="sng">
                      <a:solidFill>
                        <a:srgbClr val="edf2f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i="0" sz="1500" b="0">
                          <a:solidFill>
                            <a:srgbClr val="334155"/>
                          </a:solidFill>
                          <a:latin typeface="Noto Sans KR"/>
                        </a:defRPr>
                      </a:pPr>
                      <a:r>
                        <a:rPr i="0" sz="1500" b="0">
                          <a:solidFill>
                            <a:srgbClr val="334155"/>
                          </a:solidFill>
                          <a:latin typeface="Noto Sans KR"/>
                        </a:rPr>
                        <a:t>김철수 팀장</a:t>
                      </a:r>
                    </a:p>
                  </a:txBody>
                  <a:tcPr marL="203200" marR="203200" marT="228600" marB="228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 cmpd="sng">
                      <a:solidFill>
                        <a:srgbClr val="edf2f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i="0" sz="1500" b="0">
                          <a:solidFill>
                            <a:srgbClr val="334155"/>
                          </a:solidFill>
                          <a:latin typeface="Noto Sans KR"/>
                        </a:defRPr>
                      </a:pPr>
                      <a:r>
                        <a:rPr i="0" sz="1500" b="0">
                          <a:solidFill>
                            <a:srgbClr val="334155"/>
                          </a:solidFill>
                          <a:latin typeface="Noto Sans KR"/>
                        </a:rPr>
                        <a:t>2026-03-25</a:t>
                      </a:r>
                    </a:p>
                  </a:txBody>
                  <a:tcPr marL="203200" marR="203200" marT="228600" marB="228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 cmpd="sng">
                      <a:solidFill>
                        <a:srgbClr val="edf2f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i="0" sz="1200" b="1">
                          <a:solidFill>
                            <a:srgbClr val="DC2626"/>
                          </a:solidFill>
                          <a:latin typeface="Noto Sans KR"/>
                        </a:rPr>
                        <a:t>긴급</a:t>
                      </a:r>
                    </a:p>
                  </a:txBody>
                  <a:tcPr marL="203200" marR="203200" marT="228600" marB="228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 cmpd="sng">
                      <a:solidFill>
                        <a:srgbClr val="edf2f7"/>
                      </a:solidFill>
                    </a:lnB>
                    <a:noFill/>
                  </a:tcPr>
                </a:tc>
              </a:tr>
              <a:tr h="774700">
                <a:tc>
                  <a:txBody>
                    <a:bodyPr wrap="square"/>
                    <a:lstStyle/>
                    <a:p>
                      <a:pPr algn="l"/>
                      <a:r>
                        <a:rPr i="0" sz="1500" b="0">
                          <a:solidFill>
                            <a:srgbClr val="334155"/>
                          </a:solidFill>
                          <a:latin typeface="Noto Sans KR"/>
                        </a:rPr>
                        <a:t>회의록 요약 데이터베이스(DB) 스키마 마이그레이션</a:t>
                      </a:r>
                    </a:p>
                  </a:txBody>
                  <a:tcPr marL="203200" marR="203200" marT="228600" marB="228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 cmpd="sng">
                      <a:solidFill>
                        <a:srgbClr val="edf2f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i="0" sz="1500" b="0">
                          <a:solidFill>
                            <a:srgbClr val="334155"/>
                          </a:solidFill>
                          <a:latin typeface="Noto Sans KR"/>
                        </a:defRPr>
                      </a:pPr>
                      <a:r>
                        <a:rPr i="0" sz="1500" b="0">
                          <a:solidFill>
                            <a:srgbClr val="334155"/>
                          </a:solidFill>
                          <a:latin typeface="Noto Sans KR"/>
                        </a:rPr>
                        <a:t>이영희 매니저</a:t>
                      </a:r>
                    </a:p>
                  </a:txBody>
                  <a:tcPr marL="203200" marR="203200" marT="228600" marB="228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 cmpd="sng">
                      <a:solidFill>
                        <a:srgbClr val="edf2f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i="0" sz="1500" b="0">
                          <a:solidFill>
                            <a:srgbClr val="334155"/>
                          </a:solidFill>
                          <a:latin typeface="Noto Sans KR"/>
                        </a:defRPr>
                      </a:pPr>
                      <a:r>
                        <a:rPr i="0" sz="1500" b="0">
                          <a:solidFill>
                            <a:srgbClr val="334155"/>
                          </a:solidFill>
                          <a:latin typeface="Noto Sans KR"/>
                        </a:rPr>
                        <a:t>2026-03-28</a:t>
                      </a:r>
                    </a:p>
                  </a:txBody>
                  <a:tcPr marL="203200" marR="203200" marT="228600" marB="228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 cmpd="sng">
                      <a:solidFill>
                        <a:srgbClr val="edf2f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i="0" sz="1200" b="1">
                          <a:solidFill>
                            <a:srgbClr val="D97706"/>
                          </a:solidFill>
                          <a:latin typeface="Noto Sans KR"/>
                        </a:rPr>
                        <a:t>중간</a:t>
                      </a:r>
                    </a:p>
                  </a:txBody>
                  <a:tcPr marL="203200" marR="203200" marT="228600" marB="228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 cmpd="sng">
                      <a:solidFill>
                        <a:srgbClr val="edf2f7"/>
                      </a:solidFill>
                    </a:lnB>
                    <a:noFill/>
                  </a:tcPr>
                </a:tc>
              </a:tr>
              <a:tr h="774700">
                <a:tc>
                  <a:txBody>
                    <a:bodyPr wrap="square"/>
                    <a:lstStyle/>
                    <a:p>
                      <a:pPr algn="l"/>
                      <a:r>
                        <a:rPr i="0" sz="1500" b="0">
                          <a:solidFill>
                            <a:srgbClr val="334155"/>
                          </a:solidFill>
                          <a:latin typeface="Noto Sans KR"/>
                        </a:rPr>
                        <a:t>사용자 UI 대시보드 Action Item 렌더링 컴포넌트 개발</a:t>
                      </a:r>
                    </a:p>
                  </a:txBody>
                  <a:tcPr marL="203200" marR="203200" marT="228600" marB="228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 cmpd="sng">
                      <a:solidFill>
                        <a:srgbClr val="002d5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i="0" sz="1500" b="0">
                          <a:solidFill>
                            <a:srgbClr val="334155"/>
                          </a:solidFill>
                          <a:latin typeface="Noto Sans KR"/>
                        </a:defRPr>
                      </a:pPr>
                      <a:r>
                        <a:rPr i="0" sz="1500" b="0">
                          <a:solidFill>
                            <a:srgbClr val="334155"/>
                          </a:solidFill>
                          <a:latin typeface="Noto Sans KR"/>
                        </a:rPr>
                        <a:t>박지민 선임</a:t>
                      </a:r>
                    </a:p>
                  </a:txBody>
                  <a:tcPr marL="203200" marR="203200" marT="228600" marB="228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 cmpd="sng">
                      <a:solidFill>
                        <a:srgbClr val="002d5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i="0" sz="1500" b="0">
                          <a:solidFill>
                            <a:srgbClr val="334155"/>
                          </a:solidFill>
                          <a:latin typeface="Noto Sans KR"/>
                        </a:defRPr>
                      </a:pPr>
                      <a:r>
                        <a:rPr i="0" sz="1500" b="0">
                          <a:solidFill>
                            <a:srgbClr val="334155"/>
                          </a:solidFill>
                          <a:latin typeface="Noto Sans KR"/>
                        </a:rPr>
                        <a:t>2026-04-01</a:t>
                      </a:r>
                    </a:p>
                  </a:txBody>
                  <a:tcPr marL="203200" marR="203200" marT="228600" marB="228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 cmpd="sng">
                      <a:solidFill>
                        <a:srgbClr val="002d5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i="0" sz="1200" b="1">
                          <a:solidFill>
                            <a:srgbClr val="D97706"/>
                          </a:solidFill>
                          <a:latin typeface="Noto Sans KR"/>
                        </a:rPr>
                        <a:t>중간</a:t>
                      </a:r>
                    </a:p>
                  </a:txBody>
                  <a:tcPr marL="203200" marR="203200" marT="228600" marB="228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 cmpd="sng">
                      <a:solidFill>
                        <a:srgbClr val="002d5d"/>
                      </a:solidFill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4" name="Connector 23"/>
          <p:cNvCxnSpPr/>
          <p:nvPr/>
        </p:nvCxnSpPr>
        <p:spPr>
          <a:xfrm>
            <a:off x="1016000" y="8839200"/>
            <a:ext cx="14224000" cy="0"/>
          </a:xfrm>
          <a:prstGeom prst="line">
            <a:avLst/>
          </a:prstGeom>
          <a:ln w="25400">
            <a:solidFill>
              <a:srgbClr val="002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930400" y="9118600"/>
            <a:ext cx="16510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i="0" sz="1200" b="1">
                <a:solidFill>
                  <a:srgbClr val="9CA3AF"/>
                </a:solidFill>
                <a:latin typeface="Noto Sans KR"/>
              </a:rPr>
              <a:t>시간 절감</a:t>
            </a:r>
            <a:r>
              <a:rPr i="0" sz="1400" b="1">
                <a:solidFill>
                  <a:srgbClr val="374151"/>
                </a:solidFill>
                <a:latin typeface="Noto Sans KR"/>
              </a:rPr>
              <a:t>작성 시간 </a:t>
            </a:r>
            <a:r>
              <a:rPr i="0" sz="1400" b="1">
                <a:solidFill>
                  <a:srgbClr val="374151"/>
                </a:solidFill>
                <a:latin typeface="Noto Sans KR"/>
              </a:rPr>
              <a:t>85% 감소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60800" y="9118600"/>
            <a:ext cx="0" cy="50800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940300" y="9118600"/>
            <a:ext cx="18161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i="0" sz="1200" b="1">
                <a:solidFill>
                  <a:srgbClr val="9CA3AF"/>
                </a:solidFill>
                <a:latin typeface="Noto Sans KR"/>
              </a:rPr>
              <a:t>누락 방지</a:t>
            </a:r>
            <a:r>
              <a:rPr i="0" sz="1400" b="1">
                <a:solidFill>
                  <a:srgbClr val="374151"/>
                </a:solidFill>
                <a:latin typeface="Noto Sans KR"/>
              </a:rPr>
              <a:t>항목 추출 </a:t>
            </a:r>
            <a:r>
              <a:rPr i="0" sz="1400" b="1">
                <a:solidFill>
                  <a:srgbClr val="374151"/>
                </a:solidFill>
                <a:latin typeface="Noto Sans KR"/>
              </a:rPr>
              <a:t>정확도 98%</a:t>
            </a:r>
          </a:p>
        </p:txBody>
      </p:sp>
      <p:pic>
        <p:nvPicPr>
          <p:cNvPr id="28" name="Picture 27" descr="993ff1e4-91d1-44c6-9027-5d7c3e9ea43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2400" y="9271000"/>
            <a:ext cx="203200" cy="203200"/>
          </a:xfrm>
          <a:prstGeom prst="rect">
            <a:avLst/>
          </a:prstGeom>
        </p:spPr>
      </p:pic>
      <p:pic>
        <p:nvPicPr>
          <p:cNvPr id="29" name="Picture 28" descr="ab98cbff-41b9-4852-b953-c915e8cfa76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5000" y="9271000"/>
            <a:ext cx="177800" cy="203200"/>
          </a:xfrm>
          <a:prstGeom prst="rect">
            <a:avLst/>
          </a:prstGeom>
        </p:spPr>
      </p:pic>
      <p:pic>
        <p:nvPicPr>
          <p:cNvPr id="30" name="Picture 29" descr="72a85ce7-ced7-4afd-93f6-bd8c1254c10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87100" y="9296400"/>
            <a:ext cx="139700" cy="177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264900" y="9245600"/>
            <a:ext cx="38481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400" b="1">
                <a:solidFill>
                  <a:srgbClr val="002D5D"/>
                </a:solidFill>
                <a:latin typeface="Noto Sans KR"/>
              </a:rPr>
              <a:t> 수작업 대비 업무 투명성 및 협업 효율 비약적 향상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800" y="10388600"/>
            <a:ext cx="10922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9CA3AF"/>
                </a:solidFill>
                <a:latin typeface="Noto Sans KR"/>
              </a:defRPr>
            </a:pPr>
            <a:r>
              <a:rPr i="0" sz="1200" b="1">
                <a:solidFill>
                  <a:srgbClr val="9CA3AF"/>
                </a:solidFill>
                <a:latin typeface="Noto Sans KR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10388600"/>
            <a:ext cx="14859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9CA3AF"/>
                </a:solidFill>
                <a:latin typeface="Noto Sans KR"/>
              </a:defRPr>
            </a:pPr>
            <a:r>
              <a:rPr i="0" sz="1200" b="1">
                <a:solidFill>
                  <a:srgbClr val="9CA3AF"/>
                </a:solidFill>
                <a:latin typeface="Noto Sans KR"/>
              </a:rPr>
              <a:t>TARGET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43100" y="10490200"/>
            <a:ext cx="4953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defRPr i="0" sz="2400" b="1">
                <a:solidFill>
                  <a:srgbClr val="002D5D"/>
                </a:solidFill>
                <a:latin typeface="Noto Sans KR"/>
              </a:defRPr>
            </a:pPr>
            <a:r>
              <a:rPr i="0" sz="2400" b="1">
                <a:solidFill>
                  <a:srgbClr val="002D5D"/>
                </a:solidFill>
                <a:latin typeface="Noto Sans KR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113000" y="10566400"/>
            <a:ext cx="457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D1D5DB"/>
                </a:solidFill>
                <a:latin typeface="Noto Sans KR"/>
              </a:defRPr>
            </a:pPr>
            <a:r>
              <a:rPr i="0" sz="1400" b="1">
                <a:solidFill>
                  <a:srgbClr val="D1D5DB"/>
                </a:solidFill>
                <a:latin typeface="Noto Sans KR"/>
              </a:rPr>
              <a:t>/ 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800" y="10642600"/>
            <a:ext cx="1092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002D5D"/>
                </a:solidFill>
                <a:latin typeface="Noto Sans KR"/>
              </a:defRPr>
            </a:pPr>
            <a:r>
              <a:rPr i="0" sz="1400" b="1">
                <a:solidFill>
                  <a:srgbClr val="002D5D"/>
                </a:solidFill>
                <a:latin typeface="Noto Sans KR"/>
              </a:rPr>
              <a:t>2026-03-18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10642600"/>
            <a:ext cx="14859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002D5D"/>
                </a:solidFill>
                <a:latin typeface="Noto Sans KR"/>
              </a:defRPr>
            </a:pPr>
            <a:r>
              <a:rPr i="0" sz="1400" b="1">
                <a:solidFill>
                  <a:srgbClr val="002D5D"/>
                </a:solidFill>
                <a:latin typeface="Noto Sans KR"/>
              </a:rPr>
              <a:t>기술직 포트폴리오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762000"/>
            <a:ext cx="124587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9CA3AF"/>
                </a:solidFill>
                <a:latin typeface="Noto Sans KR"/>
              </a:defRPr>
            </a:pPr>
            <a:r>
              <a:rPr i="0" sz="2000" b="1">
                <a:solidFill>
                  <a:srgbClr val="9CA3AF"/>
                </a:solidFill>
                <a:latin typeface="Noto Sans KR"/>
              </a:rPr>
              <a:t>핵심 기능 II - 동적 마감기한 인식 및 변환</a:t>
            </a:r>
          </a:p>
        </p:txBody>
      </p:sp>
      <p:pic>
        <p:nvPicPr>
          <p:cNvPr id="3" name="Picture 2" descr="10f38ed6-8cfa-4cf3-b5bf-f17c8d518e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7700" y="762000"/>
            <a:ext cx="1892300" cy="571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6000" y="1219200"/>
            <a:ext cx="124587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defRPr i="0" sz="4800" b="1">
                <a:solidFill>
                  <a:srgbClr val="002D5D"/>
                </a:solidFill>
                <a:latin typeface="Noto Sans KR"/>
              </a:defRPr>
            </a:pPr>
            <a:r>
              <a:rPr i="0" sz="4800" b="1">
                <a:solidFill>
                  <a:srgbClr val="002D5D"/>
                </a:solidFill>
                <a:latin typeface="Noto Sans KR"/>
              </a:rPr>
              <a:t>'내일'을 '2026-03-19'로, 분명한 일정 통합 자동화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6000" y="2946400"/>
            <a:ext cx="1016000" cy="101600"/>
          </a:xfrm>
          <a:prstGeom prst="rect">
            <a:avLst/>
          </a:prstGeom>
          <a:solidFill>
            <a:srgbClr val="002D5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16000" y="3632200"/>
            <a:ext cx="6299200" cy="3581400"/>
          </a:xfrm>
          <a:prstGeom prst="roundRect">
            <a:avLst>
              <a:gd name="adj" fmla="val 5673"/>
            </a:avLst>
          </a:prstGeom>
          <a:solidFill>
            <a:srgbClr val="F9FAFB"/>
          </a:solidFill>
          <a:ln w="12700">
            <a:solidFill>
              <a:srgbClr val="F3F4F6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0" rIns="381000" tIns="381000" bIns="38100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40800" y="3632200"/>
            <a:ext cx="6299200" cy="3581400"/>
          </a:xfrm>
          <a:prstGeom prst="roundRect">
            <a:avLst>
              <a:gd name="adj" fmla="val 5673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0" rIns="381000" tIns="381000" bIns="38100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35100" y="4089400"/>
            <a:ext cx="596900" cy="241300"/>
          </a:xfrm>
          <a:prstGeom prst="roundRect">
            <a:avLst>
              <a:gd name="adj" fmla="val 21052"/>
            </a:avLst>
          </a:prstGeom>
          <a:solidFill>
            <a:srgbClr val="9CA3AF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0" bIns="0"/>
          <a:lstStyle/>
          <a:p>
            <a:pPr algn="l">
              <a:defRPr i="0" sz="1000" b="1">
                <a:solidFill>
                  <a:srgbClr val="FFFFFF"/>
                </a:solidFill>
                <a:latin typeface="Noto Sans KR"/>
              </a:defRPr>
            </a:pPr>
            <a:r>
              <a:rPr i="0" sz="1000" b="1">
                <a:solidFill>
                  <a:srgbClr val="FFFFFF"/>
                </a:solidFill>
                <a:latin typeface="Noto Sans KR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33600" y="4051300"/>
            <a:ext cx="19812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1">
                <a:solidFill>
                  <a:srgbClr val="4B5563"/>
                </a:solidFill>
                <a:latin typeface="Noto Sans KR"/>
              </a:defRPr>
            </a:pPr>
            <a:r>
              <a:rPr i="0" sz="1600" b="1">
                <a:solidFill>
                  <a:srgbClr val="4B5563"/>
                </a:solidFill>
                <a:latin typeface="Noto Sans KR"/>
              </a:rPr>
              <a:t>자연어 상대 시간 입력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59900" y="4089400"/>
            <a:ext cx="736600" cy="241300"/>
          </a:xfrm>
          <a:prstGeom prst="roundRect">
            <a:avLst>
              <a:gd name="adj" fmla="val 21052"/>
            </a:avLst>
          </a:prstGeom>
          <a:solidFill>
            <a:srgbClr val="002D5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0" bIns="0"/>
          <a:lstStyle/>
          <a:p>
            <a:pPr algn="l">
              <a:defRPr i="0" sz="1000" b="1">
                <a:solidFill>
                  <a:srgbClr val="FFFFFF"/>
                </a:solidFill>
                <a:latin typeface="Noto Sans KR"/>
              </a:defRPr>
            </a:pPr>
            <a:r>
              <a:rPr i="0" sz="1000" b="1">
                <a:solidFill>
                  <a:srgbClr val="FFFFFF"/>
                </a:solidFill>
                <a:latin typeface="Noto Sans KR"/>
              </a:rP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8100" y="4051300"/>
            <a:ext cx="2349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1">
                <a:solidFill>
                  <a:srgbClr val="002D5D"/>
                </a:solidFill>
                <a:latin typeface="Noto Sans KR"/>
              </a:defRPr>
            </a:pPr>
            <a:r>
              <a:rPr i="0" sz="1600" b="1">
                <a:solidFill>
                  <a:srgbClr val="002D5D"/>
                </a:solidFill>
                <a:latin typeface="Noto Sans KR"/>
              </a:rPr>
              <a:t>정형화된 절대 시간 데이터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59900" y="4559300"/>
            <a:ext cx="5461000" cy="1473200"/>
          </a:xfrm>
          <a:prstGeom prst="roundRect">
            <a:avLst>
              <a:gd name="adj" fmla="val 10344"/>
            </a:avLst>
          </a:prstGeom>
          <a:solidFill>
            <a:srgbClr val="FFFFFF"/>
          </a:solidFill>
          <a:ln>
            <a:noFill/>
          </a:ln>
          <a:effectLst>
            <a:outerShdw blurRad="76200" dir="90000" dist="508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9400" rIns="279400" tIns="279400" bIns="279400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359900" y="4559300"/>
            <a:ext cx="0" cy="1473200"/>
          </a:xfrm>
          <a:prstGeom prst="line">
            <a:avLst/>
          </a:prstGeom>
          <a:ln w="50800">
            <a:solidFill>
              <a:srgbClr val="002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435100" y="4737100"/>
            <a:ext cx="5461000" cy="1422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>
            <a:noFill/>
          </a:ln>
          <a:effectLst>
            <a:outerShdw blurRad="25400" dir="9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9400" rIns="279400" tIns="279400" bIns="279400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435100" y="4737100"/>
            <a:ext cx="0" cy="1422400"/>
          </a:xfrm>
          <a:prstGeom prst="line">
            <a:avLst/>
          </a:prstGeom>
          <a:ln w="508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21600" y="4724400"/>
            <a:ext cx="812800" cy="812800"/>
          </a:xfrm>
          <a:prstGeom prst="roundRect">
            <a:avLst>
              <a:gd name="adj" fmla="val 50000"/>
            </a:avLst>
          </a:prstGeom>
          <a:solidFill>
            <a:srgbClr val="002D5D"/>
          </a:solidFill>
          <a:ln>
            <a:noFill/>
          </a:ln>
          <a:effectLst>
            <a:outerShdw blurRad="190500" dir="9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pic>
        <p:nvPicPr>
          <p:cNvPr id="17" name="Picture 16" descr="fd59af6b-ae96-4029-83bc-afa55fcd29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600" y="4927600"/>
            <a:ext cx="304800" cy="406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715500" y="4864100"/>
            <a:ext cx="492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defRPr i="0" sz="3000" b="1">
                <a:solidFill>
                  <a:srgbClr val="002D5D"/>
                </a:solidFill>
                <a:latin typeface="Noto Sans KR"/>
              </a:defRPr>
            </a:pPr>
            <a:r>
              <a:rPr i="0" sz="3000" b="1">
                <a:solidFill>
                  <a:srgbClr val="002D5D"/>
                </a:solidFill>
                <a:latin typeface="Noto Sans KR"/>
              </a:rPr>
              <a:t>2026-03-19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0700" y="5016500"/>
            <a:ext cx="4711700" cy="85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1" sz="2400" b="0">
                <a:solidFill>
                  <a:srgbClr val="1F2937"/>
                </a:solidFill>
                <a:latin typeface="Noto Sans KR"/>
              </a:rPr>
              <a:t>"</a:t>
            </a:r>
            <a:r>
              <a:rPr i="1" sz="2400" b="1">
                <a:solidFill>
                  <a:srgbClr val="1F2937"/>
                </a:solidFill>
                <a:latin typeface="Noto Sans KR"/>
              </a:rPr>
              <a:t>내일 오전 10시</a:t>
            </a:r>
            <a:r>
              <a:rPr i="1" sz="2400" b="0">
                <a:solidFill>
                  <a:srgbClr val="1F2937"/>
                </a:solidFill>
                <a:latin typeface="Noto Sans KR"/>
              </a:rPr>
              <a:t>까지 주간 보고서 제출해줘"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5500" y="5372100"/>
            <a:ext cx="49276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374151"/>
                </a:solidFill>
                <a:latin typeface="Noto Sans KR"/>
              </a:defRPr>
            </a:pPr>
            <a:r>
              <a:rPr i="0" sz="2000" b="1">
                <a:solidFill>
                  <a:srgbClr val="374151"/>
                </a:solidFill>
                <a:latin typeface="Noto Sans KR"/>
              </a:rPr>
              <a:t>오전 10:00:00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9700" y="5638800"/>
            <a:ext cx="8509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000" b="1">
                <a:solidFill>
                  <a:srgbClr val="002D5D"/>
                </a:solidFill>
                <a:latin typeface="Noto Sans KR"/>
              </a:defRPr>
            </a:pPr>
            <a:r>
              <a:rPr i="0" sz="1000" b="1">
                <a:solidFill>
                  <a:srgbClr val="002D5D"/>
                </a:solidFill>
                <a:latin typeface="Noto Sans KR"/>
              </a:rPr>
              <a:t>GEMINI AI</a:t>
            </a:r>
          </a:p>
        </p:txBody>
      </p:sp>
      <p:pic>
        <p:nvPicPr>
          <p:cNvPr id="22" name="Picture 21" descr="e6507732-be93-4256-b81e-5ee3522ddd8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500" y="5930900"/>
            <a:ext cx="127000" cy="2032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9359900" y="6235700"/>
            <a:ext cx="5461000" cy="558800"/>
          </a:xfrm>
          <a:prstGeom prst="roundRect">
            <a:avLst>
              <a:gd name="adj" fmla="val 18181"/>
            </a:avLst>
          </a:prstGeom>
          <a:solidFill>
            <a:srgbClr val="1E293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27000" tIns="127000" bIns="127000"/>
          <a:lstStyle/>
          <a:p>
            <a:pPr algn="ctr"/>
          </a:p>
        </p:txBody>
      </p:sp>
      <p:pic>
        <p:nvPicPr>
          <p:cNvPr id="24" name="Picture 23" descr="2977f651-afa5-4c76-b4ed-71e1bab5c96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5100" y="6413500"/>
            <a:ext cx="177800" cy="177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63700" y="6362700"/>
            <a:ext cx="20193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400" b="0">
                <a:solidFill>
                  <a:srgbClr val="6B7280"/>
                </a:solidFill>
                <a:latin typeface="Noto Sans KR"/>
              </a:rPr>
              <a:t> 기준일: 2026-03-18 (수)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12300" y="6388100"/>
            <a:ext cx="37465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i="0" sz="1400" b="0">
                <a:solidFill>
                  <a:srgbClr val="93C5FD"/>
                </a:solidFill>
                <a:latin typeface="monospace"/>
              </a:rPr>
              <a:t>"iso_format":</a:t>
            </a:r>
            <a:r>
              <a:rPr i="0" sz="1400" b="0">
                <a:solidFill>
                  <a:srgbClr val="86EFAC"/>
                </a:solidFill>
                <a:latin typeface="monospace"/>
              </a:rPr>
              <a:t>"2026-03-19T10:00:00"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6000" y="7721600"/>
            <a:ext cx="508000" cy="508000"/>
          </a:xfrm>
          <a:prstGeom prst="roundRect">
            <a:avLst>
              <a:gd name="adj" fmla="val 20000"/>
            </a:avLst>
          </a:prstGeom>
          <a:solidFill>
            <a:srgbClr val="002D5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27200" y="7721600"/>
            <a:ext cx="39497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1">
                <a:solidFill>
                  <a:srgbClr val="002D5D"/>
                </a:solidFill>
                <a:latin typeface="Noto Sans KR"/>
              </a:defRPr>
            </a:pPr>
            <a:r>
              <a:rPr i="0" sz="1600" b="1">
                <a:solidFill>
                  <a:srgbClr val="002D5D"/>
                </a:solidFill>
                <a:latin typeface="Noto Sans KR"/>
              </a:rPr>
              <a:t>지능형 날짜 파싱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54700" y="7721600"/>
            <a:ext cx="508000" cy="508000"/>
          </a:xfrm>
          <a:prstGeom prst="roundRect">
            <a:avLst>
              <a:gd name="adj" fmla="val 20000"/>
            </a:avLst>
          </a:prstGeom>
          <a:solidFill>
            <a:srgbClr val="002D5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65900" y="7721600"/>
            <a:ext cx="39497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1">
                <a:solidFill>
                  <a:srgbClr val="002D5D"/>
                </a:solidFill>
                <a:latin typeface="Noto Sans KR"/>
              </a:defRPr>
            </a:pPr>
            <a:r>
              <a:rPr i="0" sz="1600" b="1">
                <a:solidFill>
                  <a:srgbClr val="002D5D"/>
                </a:solidFill>
                <a:latin typeface="Noto Sans KR"/>
              </a:rPr>
              <a:t>캘린더 연동 최적화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706100" y="7721600"/>
            <a:ext cx="508000" cy="508000"/>
          </a:xfrm>
          <a:prstGeom prst="roundRect">
            <a:avLst>
              <a:gd name="adj" fmla="val 20000"/>
            </a:avLst>
          </a:prstGeom>
          <a:solidFill>
            <a:srgbClr val="002D5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17300" y="7721600"/>
            <a:ext cx="39497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1">
                <a:solidFill>
                  <a:srgbClr val="002D5D"/>
                </a:solidFill>
                <a:latin typeface="Noto Sans KR"/>
              </a:defRPr>
            </a:pPr>
            <a:r>
              <a:rPr i="0" sz="1600" b="1">
                <a:solidFill>
                  <a:srgbClr val="002D5D"/>
                </a:solidFill>
                <a:latin typeface="Noto Sans KR"/>
              </a:rPr>
              <a:t>모호성 근본 해결</a:t>
            </a:r>
          </a:p>
        </p:txBody>
      </p:sp>
      <p:pic>
        <p:nvPicPr>
          <p:cNvPr id="33" name="Picture 32" descr="aafc5ca2-5383-45ab-a0e5-6e400cb3275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1100" y="7874000"/>
            <a:ext cx="177800" cy="203200"/>
          </a:xfrm>
          <a:prstGeom prst="rect">
            <a:avLst/>
          </a:prstGeom>
        </p:spPr>
      </p:pic>
      <p:pic>
        <p:nvPicPr>
          <p:cNvPr id="34" name="Picture 33" descr="6e33033a-90ab-4fd7-bd29-6ce1eaa5019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7100" y="7874000"/>
            <a:ext cx="203200" cy="203200"/>
          </a:xfrm>
          <a:prstGeom prst="rect">
            <a:avLst/>
          </a:prstGeom>
        </p:spPr>
      </p:pic>
      <p:pic>
        <p:nvPicPr>
          <p:cNvPr id="35" name="Picture 34" descr="3cf1fab7-2427-422d-9c79-69539be6a6f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8500" y="7874000"/>
            <a:ext cx="203200" cy="2032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727200" y="8089900"/>
            <a:ext cx="3822700" cy="54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400" b="0">
                <a:solidFill>
                  <a:srgbClr val="4B5563"/>
                </a:solidFill>
                <a:latin typeface="Noto Sans KR"/>
              </a:rPr>
              <a:t>Gemini 프롬프트에 </a:t>
            </a:r>
            <a:r>
              <a:rPr i="0" sz="1400" b="1">
                <a:solidFill>
                  <a:srgbClr val="4B5563"/>
                </a:solidFill>
                <a:latin typeface="Noto Sans KR"/>
              </a:rPr>
              <a:t>현재 시스템 날짜(f-string)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를 주입하여 상대적 시간을 정확히 계산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5900" y="8089900"/>
            <a:ext cx="3073400" cy="54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i="0" sz="1400" b="1">
                <a:solidFill>
                  <a:srgbClr val="4B5563"/>
                </a:solidFill>
                <a:latin typeface="Noto Sans KR"/>
              </a:rPr>
              <a:t>ISO-8601 표준 형식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 병행 추출로 Google/Outlook 캘린더 API 즉시 연동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17300" y="8089900"/>
            <a:ext cx="3873500" cy="54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400" b="0">
                <a:solidFill>
                  <a:srgbClr val="4B5563"/>
                </a:solidFill>
                <a:latin typeface="Noto Sans KR"/>
              </a:rPr>
              <a:t>협업 시 발생하는 </a:t>
            </a:r>
            <a:r>
              <a:rPr i="0" sz="1400" b="1">
                <a:solidFill>
                  <a:srgbClr val="4B5563"/>
                </a:solidFill>
                <a:latin typeface="Noto Sans KR"/>
              </a:rPr>
              <a:t>'내일', '다음주'의 의미 혼란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을 제거하여 업무 생산성 극대화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2800" y="9169400"/>
            <a:ext cx="10922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9CA3AF"/>
                </a:solidFill>
                <a:latin typeface="Noto Sans KR"/>
              </a:defRPr>
            </a:pPr>
            <a:r>
              <a:rPr i="0" sz="1200" b="1">
                <a:solidFill>
                  <a:srgbClr val="9CA3AF"/>
                </a:solidFill>
                <a:latin typeface="Noto Sans KR"/>
              </a:rPr>
              <a:t>DATE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9169400"/>
            <a:ext cx="18034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9CA3AF"/>
                </a:solidFill>
                <a:latin typeface="Noto Sans KR"/>
              </a:defRPr>
            </a:pPr>
            <a:r>
              <a:rPr i="0" sz="1200" b="1">
                <a:solidFill>
                  <a:srgbClr val="9CA3AF"/>
                </a:solidFill>
                <a:latin typeface="Noto Sans KR"/>
              </a:rPr>
              <a:t>SECTION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643100" y="9271000"/>
            <a:ext cx="4953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defRPr i="0" sz="2400" b="1">
                <a:solidFill>
                  <a:srgbClr val="002D5D"/>
                </a:solidFill>
                <a:latin typeface="Noto Sans KR"/>
              </a:defRPr>
            </a:pPr>
            <a:r>
              <a:rPr i="0" sz="2400" b="1">
                <a:solidFill>
                  <a:srgbClr val="002D5D"/>
                </a:solidFill>
                <a:latin typeface="Noto Sans KR"/>
              </a:rPr>
              <a:t>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113000" y="9347200"/>
            <a:ext cx="457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D1D5DB"/>
                </a:solidFill>
                <a:latin typeface="Noto Sans KR"/>
              </a:defRPr>
            </a:pPr>
            <a:r>
              <a:rPr i="0" sz="1400" b="1">
                <a:solidFill>
                  <a:srgbClr val="D1D5DB"/>
                </a:solidFill>
                <a:latin typeface="Noto Sans KR"/>
              </a:rPr>
              <a:t>/ 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2800" y="9423400"/>
            <a:ext cx="1092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002D5D"/>
                </a:solidFill>
                <a:latin typeface="Noto Sans KR"/>
              </a:defRPr>
            </a:pPr>
            <a:r>
              <a:rPr i="0" sz="1400" b="1">
                <a:solidFill>
                  <a:srgbClr val="002D5D"/>
                </a:solidFill>
                <a:latin typeface="Noto Sans KR"/>
              </a:rPr>
              <a:t>2026-03-18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6000" y="9423400"/>
            <a:ext cx="1803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002D5D"/>
                </a:solidFill>
                <a:latin typeface="Noto Sans KR"/>
              </a:defRPr>
            </a:pPr>
            <a:r>
              <a:rPr i="0" sz="1400" b="1">
                <a:solidFill>
                  <a:srgbClr val="002D5D"/>
                </a:solidFill>
                <a:latin typeface="Noto Sans KR"/>
              </a:rPr>
              <a:t>핵심 기능 및 기술 스택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762000"/>
            <a:ext cx="96139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9CA3AF"/>
                </a:solidFill>
                <a:latin typeface="Noto Sans KR"/>
              </a:defRPr>
            </a:pPr>
            <a:r>
              <a:rPr i="0" sz="2000" b="1">
                <a:solidFill>
                  <a:srgbClr val="9CA3AF"/>
                </a:solidFill>
                <a:latin typeface="Noto Sans KR"/>
              </a:rPr>
              <a:t>핵심 기능 III - 캘린더 연동 &amp; 초안 자동생성</a:t>
            </a:r>
          </a:p>
        </p:txBody>
      </p:sp>
      <p:pic>
        <p:nvPicPr>
          <p:cNvPr id="3" name="Picture 2" descr="192013df-f8eb-46d1-bb2b-4ec32464e3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0" y="762000"/>
            <a:ext cx="2032000" cy="571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6000" y="1219200"/>
            <a:ext cx="96139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defRPr i="0" sz="4800" b="1">
                <a:solidFill>
                  <a:srgbClr val="002D5D"/>
                </a:solidFill>
                <a:latin typeface="Noto Sans KR"/>
              </a:defRPr>
            </a:pPr>
            <a:r>
              <a:rPr i="0" sz="4800" b="1">
                <a:solidFill>
                  <a:srgbClr val="002D5D"/>
                </a:solidFill>
                <a:latin typeface="Noto Sans KR"/>
              </a:rPr>
              <a:t>실행 가능한 업무, 시스템과 바로 연결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6000" y="2184400"/>
            <a:ext cx="1016000" cy="101600"/>
          </a:xfrm>
          <a:prstGeom prst="rect">
            <a:avLst/>
          </a:prstGeom>
          <a:solidFill>
            <a:srgbClr val="002D5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16000" y="2667000"/>
            <a:ext cx="4318000" cy="4826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317500" dir="90000" dist="1270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55600" rIns="355600" tIns="482600" bIns="48260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69000" y="2667000"/>
            <a:ext cx="4318000" cy="4826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E5E7EB"/>
            </a:solidFill>
          </a:ln>
          <a:effectLst>
            <a:outerShdw blurRad="317500" dir="90000" dist="1270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55600" rIns="355600" tIns="482600" bIns="48260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22000" y="2667000"/>
            <a:ext cx="4318000" cy="4826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317500" dir="90000" dist="1270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55600" rIns="355600" tIns="482600" bIns="48260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67000" y="3187700"/>
            <a:ext cx="1016000" cy="1016000"/>
          </a:xfrm>
          <a:prstGeom prst="roundRect">
            <a:avLst>
              <a:gd name="adj" fmla="val 50000"/>
            </a:avLst>
          </a:prstGeom>
          <a:solidFill>
            <a:srgbClr val="F0F4F8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20000" y="3200400"/>
            <a:ext cx="1016000" cy="1016000"/>
          </a:xfrm>
          <a:prstGeom prst="roundRect">
            <a:avLst>
              <a:gd name="adj" fmla="val 50000"/>
            </a:avLst>
          </a:prstGeom>
          <a:solidFill>
            <a:srgbClr val="002D5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573000" y="3187700"/>
            <a:ext cx="1016000" cy="1016000"/>
          </a:xfrm>
          <a:prstGeom prst="roundRect">
            <a:avLst>
              <a:gd name="adj" fmla="val 50000"/>
            </a:avLst>
          </a:prstGeom>
          <a:solidFill>
            <a:srgbClr val="F0F4F8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pic>
        <p:nvPicPr>
          <p:cNvPr id="12" name="Picture 11" descr="1d5fe31c-eed6-475e-9168-d11ebd0d13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4500" y="3467100"/>
            <a:ext cx="381000" cy="457200"/>
          </a:xfrm>
          <a:prstGeom prst="rect">
            <a:avLst/>
          </a:prstGeom>
        </p:spPr>
      </p:pic>
      <p:pic>
        <p:nvPicPr>
          <p:cNvPr id="13" name="Picture 12" descr="d1ce45ab-3280-4075-a4a7-ef44d3e078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500" y="3479800"/>
            <a:ext cx="381000" cy="457200"/>
          </a:xfrm>
          <a:prstGeom prst="rect">
            <a:avLst/>
          </a:prstGeom>
        </p:spPr>
      </p:pic>
      <p:pic>
        <p:nvPicPr>
          <p:cNvPr id="14" name="Picture 13" descr="95e48d86-9028-4194-a1d8-5184241725c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90500" y="3467100"/>
            <a:ext cx="381000" cy="4572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781300" y="4508500"/>
            <a:ext cx="787400" cy="330200"/>
          </a:xfrm>
          <a:prstGeom prst="roundRect">
            <a:avLst>
              <a:gd name="adj" fmla="val 119230"/>
            </a:avLst>
          </a:prstGeom>
          <a:solidFill>
            <a:srgbClr val="EEF2FF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27000" tIns="25400" bIns="25400"/>
          <a:lstStyle/>
          <a:p>
            <a:pPr algn="ctr">
              <a:defRPr i="0" sz="1200" b="1">
                <a:solidFill>
                  <a:srgbClr val="002D5D"/>
                </a:solidFill>
                <a:latin typeface="Noto Sans KR"/>
              </a:defRPr>
            </a:pPr>
            <a:r>
              <a:rPr i="0" sz="1200" b="1">
                <a:solidFill>
                  <a:srgbClr val="002D5D"/>
                </a:solidFill>
                <a:latin typeface="Noto Sans KR"/>
              </a:rPr>
              <a:t>INPUT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4521200"/>
            <a:ext cx="711200" cy="330200"/>
          </a:xfrm>
          <a:prstGeom prst="roundRect">
            <a:avLst>
              <a:gd name="adj" fmla="val 107692"/>
            </a:avLst>
          </a:prstGeom>
          <a:solidFill>
            <a:srgbClr val="002D5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27000" tIns="25400" bIns="25400"/>
          <a:lstStyle/>
          <a:p>
            <a:pPr algn="ctr">
              <a:defRPr i="0" sz="1200" b="1">
                <a:solidFill>
                  <a:srgbClr val="FFFFFF"/>
                </a:solidFill>
                <a:latin typeface="Noto Sans KR"/>
              </a:defRPr>
            </a:pPr>
            <a:r>
              <a:rPr i="0" sz="1200" b="1">
                <a:solidFill>
                  <a:srgbClr val="FFFFFF"/>
                </a:solidFill>
                <a:latin typeface="Noto Sans KR"/>
              </a:rPr>
              <a:t>SYNC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674600" y="4508500"/>
            <a:ext cx="825500" cy="330200"/>
          </a:xfrm>
          <a:prstGeom prst="roundRect">
            <a:avLst>
              <a:gd name="adj" fmla="val 123076"/>
            </a:avLst>
          </a:prstGeom>
          <a:solidFill>
            <a:srgbClr val="EEF2FF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27000" tIns="25400" bIns="25400"/>
          <a:lstStyle/>
          <a:p>
            <a:pPr algn="ctr">
              <a:defRPr i="0" sz="1200" b="1">
                <a:solidFill>
                  <a:srgbClr val="002D5D"/>
                </a:solidFill>
                <a:latin typeface="Noto Sans KR"/>
              </a:defRPr>
            </a:pPr>
            <a:r>
              <a:rPr i="0" sz="1200" b="1">
                <a:solidFill>
                  <a:srgbClr val="002D5D"/>
                </a:solidFill>
                <a:latin typeface="Noto Sans KR"/>
              </a:rPr>
              <a:t>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62200" y="4991100"/>
            <a:ext cx="17399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2000" b="1">
                <a:solidFill>
                  <a:srgbClr val="002D5D"/>
                </a:solidFill>
                <a:latin typeface="Noto Sans KR"/>
              </a:defRPr>
            </a:pPr>
            <a:r>
              <a:rPr i="0" sz="2000" b="1">
                <a:solidFill>
                  <a:srgbClr val="002D5D"/>
                </a:solidFill>
                <a:latin typeface="Noto Sans KR"/>
              </a:rPr>
              <a:t>할 일 목록 추출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0" y="5003800"/>
            <a:ext cx="190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2000" b="1">
                <a:solidFill>
                  <a:srgbClr val="002D5D"/>
                </a:solidFill>
                <a:latin typeface="Noto Sans KR"/>
              </a:defRPr>
            </a:pPr>
            <a:r>
              <a:rPr i="0" sz="2000" b="1">
                <a:solidFill>
                  <a:srgbClr val="002D5D"/>
                </a:solidFill>
                <a:latin typeface="Noto Sans KR"/>
              </a:rPr>
              <a:t>캘린더 일정 등록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92000" y="4991100"/>
            <a:ext cx="190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2000" b="1">
                <a:solidFill>
                  <a:srgbClr val="002D5D"/>
                </a:solidFill>
                <a:latin typeface="Noto Sans KR"/>
              </a:defRPr>
            </a:pPr>
            <a:r>
              <a:rPr i="0" sz="2000" b="1">
                <a:solidFill>
                  <a:srgbClr val="002D5D"/>
                </a:solidFill>
                <a:latin typeface="Noto Sans KR"/>
              </a:rPr>
              <a:t>메신저 공유 초안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207000" y="5067300"/>
            <a:ext cx="889000" cy="25400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160000" y="5067300"/>
            <a:ext cx="889000" cy="25400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286000" y="5562600"/>
            <a:ext cx="19177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400" b="0">
                <a:solidFill>
                  <a:srgbClr val="4B5563"/>
                </a:solidFill>
                <a:latin typeface="Noto Sans KR"/>
              </a:rPr>
              <a:t>회의록 및 대화 내용에서</a:t>
            </a:r>
          </a:p>
        </p:txBody>
      </p:sp>
      <p:pic>
        <p:nvPicPr>
          <p:cNvPr id="24" name="Picture 23" descr="2221f3f3-b5d1-4be7-870f-95c515373fd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5400" y="5588000"/>
            <a:ext cx="152400" cy="152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629400" y="5562600"/>
            <a:ext cx="17907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1200" b="0">
                <a:solidFill>
                  <a:srgbClr val="374151"/>
                </a:solidFill>
                <a:latin typeface="Noto Sans KR"/>
              </a:defRPr>
            </a:pPr>
            <a:r>
              <a:rPr i="0" sz="1200" b="0">
                <a:solidFill>
                  <a:srgbClr val="374151"/>
                </a:solidFill>
                <a:latin typeface="Noto Sans KR"/>
              </a:rPr>
              <a:t>iCalendar(.ics) 파일 생성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57100" y="5562600"/>
            <a:ext cx="1587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400" b="0">
                <a:solidFill>
                  <a:srgbClr val="4B5563"/>
                </a:solidFill>
                <a:latin typeface="Noto Sans KR"/>
              </a:rPr>
              <a:t>팀 채널 공유를 위한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00300" y="5854700"/>
            <a:ext cx="1676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i="0" sz="1400" b="1">
                <a:solidFill>
                  <a:srgbClr val="4B5563"/>
                </a:solidFill>
                <a:latin typeface="Noto Sans KR"/>
              </a:rPr>
              <a:t>핵심 Action Item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을</a:t>
            </a:r>
          </a:p>
        </p:txBody>
      </p:sp>
      <p:pic>
        <p:nvPicPr>
          <p:cNvPr id="28" name="Picture 27" descr="2221f3f3-b5d1-4be7-870f-95c515373fd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5400" y="5892800"/>
            <a:ext cx="152400" cy="1524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629400" y="5854700"/>
            <a:ext cx="18542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200" b="0">
                <a:solidFill>
                  <a:srgbClr val="374151"/>
                </a:solidFill>
                <a:latin typeface="Noto Sans KR"/>
              </a:rPr>
              <a:t>구글/아웃룩 </a:t>
            </a:r>
            <a:r>
              <a:rPr i="0" sz="1200" b="1">
                <a:solidFill>
                  <a:srgbClr val="374151"/>
                </a:solidFill>
                <a:latin typeface="Noto Sans KR"/>
              </a:rPr>
              <a:t>단일 클릭</a:t>
            </a:r>
            <a:r>
              <a:rPr i="0" sz="1200" b="0">
                <a:solidFill>
                  <a:srgbClr val="374151"/>
                </a:solidFill>
                <a:latin typeface="Noto Sans KR"/>
              </a:rPr>
              <a:t> 연동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03100" y="5854700"/>
            <a:ext cx="20701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i="0" sz="1400" b="1">
                <a:solidFill>
                  <a:srgbClr val="4B5563"/>
                </a:solidFill>
                <a:latin typeface="Noto Sans KR"/>
              </a:rPr>
              <a:t>최적화된 텍스트 초안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 생성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55800" y="6146800"/>
            <a:ext cx="2565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400" b="0">
                <a:solidFill>
                  <a:srgbClr val="4B5563"/>
                </a:solidFill>
                <a:latin typeface="Noto Sans KR"/>
              </a:rPr>
              <a:t>자동으로 선별하고 구조화합니다.</a:t>
            </a:r>
          </a:p>
        </p:txBody>
      </p:sp>
      <p:pic>
        <p:nvPicPr>
          <p:cNvPr id="32" name="Picture 31" descr="2221f3f3-b5d1-4be7-870f-95c515373fd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5400" y="6197600"/>
            <a:ext cx="152400" cy="1524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629400" y="6172200"/>
            <a:ext cx="1701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1200" b="0">
                <a:solidFill>
                  <a:srgbClr val="374151"/>
                </a:solidFill>
                <a:latin typeface="Noto Sans KR"/>
              </a:defRPr>
            </a:pPr>
            <a:r>
              <a:rPr i="0" sz="1200" b="0">
                <a:solidFill>
                  <a:srgbClr val="374151"/>
                </a:solidFill>
                <a:latin typeface="Noto Sans KR"/>
              </a:rPr>
              <a:t>마감 기한 자동 설정 지원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722100" y="6337300"/>
            <a:ext cx="609600" cy="292100"/>
          </a:xfrm>
          <a:prstGeom prst="roundRect">
            <a:avLst>
              <a:gd name="adj" fmla="val 17391"/>
            </a:avLst>
          </a:prstGeom>
          <a:solidFill>
            <a:srgbClr val="F3F4F6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i="0" sz="1000" b="1">
                <a:solidFill>
                  <a:srgbClr val="6B7280"/>
                </a:solidFill>
                <a:latin typeface="Noto Sans KR"/>
              </a:defRPr>
            </a:pPr>
            <a:r>
              <a:rPr i="0" sz="1000" b="1">
                <a:solidFill>
                  <a:srgbClr val="6B7280"/>
                </a:solidFill>
                <a:latin typeface="Noto Sans KR"/>
              </a:rPr>
              <a:t>SLACK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433300" y="6337300"/>
            <a:ext cx="635000" cy="292100"/>
          </a:xfrm>
          <a:prstGeom prst="roundRect">
            <a:avLst>
              <a:gd name="adj" fmla="val 17391"/>
            </a:avLst>
          </a:prstGeom>
          <a:solidFill>
            <a:srgbClr val="F3F4F6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i="0" sz="1000" b="1">
                <a:solidFill>
                  <a:srgbClr val="6B7280"/>
                </a:solidFill>
                <a:latin typeface="Noto Sans KR"/>
              </a:defRPr>
            </a:pPr>
            <a:r>
              <a:rPr i="0" sz="1000" b="1">
                <a:solidFill>
                  <a:srgbClr val="6B7280"/>
                </a:solidFill>
                <a:latin typeface="Noto Sans KR"/>
              </a:rPr>
              <a:t>TEAMS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157200" y="6337300"/>
            <a:ext cx="584200" cy="292100"/>
          </a:xfrm>
          <a:prstGeom prst="roundRect">
            <a:avLst>
              <a:gd name="adj" fmla="val 17391"/>
            </a:avLst>
          </a:prstGeom>
          <a:solidFill>
            <a:srgbClr val="F3F4F6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i="0" sz="1000" b="1">
                <a:solidFill>
                  <a:srgbClr val="6B7280"/>
                </a:solidFill>
                <a:latin typeface="Noto Sans KR"/>
              </a:defRPr>
            </a:pPr>
            <a:r>
              <a:rPr i="0" sz="1000" b="1">
                <a:solidFill>
                  <a:srgbClr val="6B7280"/>
                </a:solidFill>
                <a:latin typeface="Noto Sans KR"/>
              </a:rPr>
              <a:t>JANDI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3855700" y="6337300"/>
            <a:ext cx="584200" cy="292100"/>
          </a:xfrm>
          <a:prstGeom prst="roundRect">
            <a:avLst>
              <a:gd name="adj" fmla="val 17391"/>
            </a:avLst>
          </a:prstGeom>
          <a:solidFill>
            <a:srgbClr val="F3F4F6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i="0" sz="1000" b="1">
                <a:solidFill>
                  <a:srgbClr val="6B7280"/>
                </a:solidFill>
                <a:latin typeface="Noto Sans KR"/>
              </a:defRPr>
            </a:pPr>
            <a:r>
              <a:rPr i="0" sz="1000" b="1">
                <a:solidFill>
                  <a:srgbClr val="6B7280"/>
                </a:solidFill>
                <a:latin typeface="Noto Sans KR"/>
              </a:rPr>
              <a:t>EMAIL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86100" y="8102600"/>
            <a:ext cx="10083800" cy="1016000"/>
          </a:xfrm>
          <a:prstGeom prst="roundRect">
            <a:avLst>
              <a:gd name="adj" fmla="val 20000"/>
            </a:avLst>
          </a:prstGeom>
          <a:solidFill>
            <a:srgbClr val="F9FAF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82600" rIns="482600" tIns="228600" bIns="228600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594100" y="83566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25400" dir="9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54500" y="8394700"/>
            <a:ext cx="17526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000" b="1">
                <a:solidFill>
                  <a:srgbClr val="9CA3AF"/>
                </a:solidFill>
                <a:latin typeface="Noto Sans KR"/>
              </a:defRPr>
            </a:pPr>
            <a:r>
              <a:rPr i="0" sz="1000" b="1">
                <a:solidFill>
                  <a:srgbClr val="9CA3AF"/>
                </a:solidFill>
                <a:latin typeface="Noto Sans KR"/>
              </a:rPr>
              <a:t>EFFECT 01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388100" y="8407400"/>
            <a:ext cx="12700" cy="40640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908800" y="83566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25400" dir="9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69200" y="8394700"/>
            <a:ext cx="1587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000" b="1">
                <a:solidFill>
                  <a:srgbClr val="9CA3AF"/>
                </a:solidFill>
                <a:latin typeface="Noto Sans KR"/>
              </a:defRPr>
            </a:pPr>
            <a:r>
              <a:rPr i="0" sz="1000" b="1">
                <a:solidFill>
                  <a:srgbClr val="9CA3AF"/>
                </a:solidFill>
                <a:latin typeface="Noto Sans KR"/>
              </a:rPr>
              <a:t>EFFECT 02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537700" y="8407400"/>
            <a:ext cx="12700" cy="40640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10058400" y="83566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25400" dir="9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718800" y="8394700"/>
            <a:ext cx="20701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000" b="1">
                <a:solidFill>
                  <a:srgbClr val="9CA3AF"/>
                </a:solidFill>
                <a:latin typeface="Noto Sans KR"/>
              </a:defRPr>
            </a:pPr>
            <a:r>
              <a:rPr i="0" sz="1000" b="1">
                <a:solidFill>
                  <a:srgbClr val="9CA3AF"/>
                </a:solidFill>
                <a:latin typeface="Noto Sans KR"/>
              </a:rPr>
              <a:t>EFFECT 03</a:t>
            </a:r>
          </a:p>
        </p:txBody>
      </p:sp>
      <p:pic>
        <p:nvPicPr>
          <p:cNvPr id="47" name="Picture 46" descr="1f0ad96b-f54b-442f-ade1-65dc5610ee0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9200" y="8509000"/>
            <a:ext cx="177800" cy="203200"/>
          </a:xfrm>
          <a:prstGeom prst="rect">
            <a:avLst/>
          </a:prstGeom>
        </p:spPr>
      </p:pic>
      <p:pic>
        <p:nvPicPr>
          <p:cNvPr id="48" name="Picture 47" descr="cac5ec58-1c1e-4122-8544-bdbaddb772d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1200" y="8509000"/>
            <a:ext cx="203200" cy="203200"/>
          </a:xfrm>
          <a:prstGeom prst="rect">
            <a:avLst/>
          </a:prstGeom>
        </p:spPr>
      </p:pic>
      <p:pic>
        <p:nvPicPr>
          <p:cNvPr id="49" name="Picture 48" descr="e096bbc9-7fcd-4649-9035-29467afc27d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85400" y="8509000"/>
            <a:ext cx="254000" cy="2032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254500" y="8585200"/>
            <a:ext cx="1752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002D5D"/>
                </a:solidFill>
                <a:latin typeface="Noto Sans KR"/>
              </a:defRPr>
            </a:pPr>
            <a:r>
              <a:rPr i="0" sz="1400" b="1">
                <a:solidFill>
                  <a:srgbClr val="002D5D"/>
                </a:solidFill>
                <a:latin typeface="Noto Sans KR"/>
              </a:rPr>
              <a:t>업무 전환 비용 최소화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69200" y="8585200"/>
            <a:ext cx="1587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002D5D"/>
                </a:solidFill>
                <a:latin typeface="Noto Sans KR"/>
              </a:defRPr>
            </a:pPr>
            <a:r>
              <a:rPr i="0" sz="1400" b="1">
                <a:solidFill>
                  <a:srgbClr val="002D5D"/>
                </a:solidFill>
                <a:latin typeface="Noto Sans KR"/>
              </a:rPr>
              <a:t>누락 없는 일정 관리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18800" y="8585200"/>
            <a:ext cx="20701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002D5D"/>
                </a:solidFill>
                <a:latin typeface="Noto Sans KR"/>
              </a:defRPr>
            </a:pPr>
            <a:r>
              <a:rPr i="0" sz="1400" b="1">
                <a:solidFill>
                  <a:srgbClr val="002D5D"/>
                </a:solidFill>
                <a:latin typeface="Noto Sans KR"/>
              </a:rPr>
              <a:t>팀 커뮤니케이션 속도 향상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2800" y="9626600"/>
            <a:ext cx="10922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9CA3AF"/>
                </a:solidFill>
                <a:latin typeface="Noto Sans KR"/>
              </a:defRPr>
            </a:pPr>
            <a:r>
              <a:rPr i="0" sz="1200" b="1">
                <a:solidFill>
                  <a:srgbClr val="9CA3AF"/>
                </a:solidFill>
                <a:latin typeface="Noto Sans KR"/>
              </a:rPr>
              <a:t>DATE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86000" y="9626600"/>
            <a:ext cx="22606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9CA3AF"/>
                </a:solidFill>
                <a:latin typeface="Noto Sans KR"/>
              </a:defRPr>
            </a:pPr>
            <a:r>
              <a:rPr i="0" sz="1200" b="1">
                <a:solidFill>
                  <a:srgbClr val="9CA3AF"/>
                </a:solidFill>
                <a:latin typeface="Noto Sans KR"/>
              </a:rPr>
              <a:t>MODULE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643100" y="9728200"/>
            <a:ext cx="4953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defRPr i="0" sz="2400" b="1">
                <a:solidFill>
                  <a:srgbClr val="002D5D"/>
                </a:solidFill>
                <a:latin typeface="Noto Sans KR"/>
              </a:defRPr>
            </a:pPr>
            <a:r>
              <a:rPr i="0" sz="2400" b="1">
                <a:solidFill>
                  <a:srgbClr val="002D5D"/>
                </a:solidFill>
                <a:latin typeface="Noto Sans KR"/>
              </a:rPr>
              <a:t>09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113000" y="9804400"/>
            <a:ext cx="457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D1D5DB"/>
                </a:solidFill>
                <a:latin typeface="Noto Sans KR"/>
              </a:defRPr>
            </a:pPr>
            <a:r>
              <a:rPr i="0" sz="1400" b="1">
                <a:solidFill>
                  <a:srgbClr val="D1D5DB"/>
                </a:solidFill>
                <a:latin typeface="Noto Sans KR"/>
              </a:rPr>
              <a:t>/ 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2800" y="9880600"/>
            <a:ext cx="1092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002D5D"/>
                </a:solidFill>
                <a:latin typeface="Noto Sans KR"/>
              </a:defRPr>
            </a:pPr>
            <a:r>
              <a:rPr i="0" sz="1400" b="1">
                <a:solidFill>
                  <a:srgbClr val="002D5D"/>
                </a:solidFill>
                <a:latin typeface="Noto Sans KR"/>
              </a:rPr>
              <a:t>2026-03-18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86000" y="9880600"/>
            <a:ext cx="2260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002D5D"/>
                </a:solidFill>
                <a:latin typeface="Noto Sans KR"/>
              </a:defRPr>
            </a:pPr>
            <a:r>
              <a:rPr i="0" sz="1400" b="1">
                <a:solidFill>
                  <a:srgbClr val="002D5D"/>
                </a:solidFill>
                <a:latin typeface="Noto Sans KR"/>
              </a:rPr>
              <a:t>Task Automation Engine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762000"/>
            <a:ext cx="7366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9CA3AF"/>
                </a:solidFill>
                <a:latin typeface="Noto Sans KR"/>
              </a:defRPr>
            </a:pPr>
            <a:r>
              <a:rPr i="0" sz="2000" b="1">
                <a:solidFill>
                  <a:srgbClr val="9CA3AF"/>
                </a:solidFill>
                <a:latin typeface="Noto Sans KR"/>
              </a:rPr>
              <a:t>실무 장애물 극복으로 만들어낸 신뢰성/정확성</a:t>
            </a:r>
          </a:p>
        </p:txBody>
      </p:sp>
      <p:pic>
        <p:nvPicPr>
          <p:cNvPr id="3" name="Picture 2" descr="192013df-f8eb-46d1-bb2b-4ec32464e3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0" y="762000"/>
            <a:ext cx="2032000" cy="571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6000" y="1219200"/>
            <a:ext cx="7366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defRPr i="0" sz="4800" b="1">
                <a:solidFill>
                  <a:srgbClr val="002D5D"/>
                </a:solidFill>
                <a:latin typeface="Noto Sans KR"/>
              </a:defRPr>
            </a:pPr>
            <a:r>
              <a:rPr i="0" sz="4800" b="1">
                <a:solidFill>
                  <a:srgbClr val="002D5D"/>
                </a:solidFill>
                <a:latin typeface="Noto Sans KR"/>
              </a:rPr>
              <a:t>개발 과정의 문제점과 해결책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6000" y="2184400"/>
            <a:ext cx="1016000" cy="101600"/>
          </a:xfrm>
          <a:prstGeom prst="rect">
            <a:avLst/>
          </a:prstGeom>
          <a:solidFill>
            <a:srgbClr val="002D5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16000" y="2667000"/>
            <a:ext cx="14224000" cy="4000500"/>
          </a:xfrm>
          <a:prstGeom prst="roundRect">
            <a:avLst>
              <a:gd name="adj" fmla="val 3809"/>
            </a:avLst>
          </a:prstGeom>
          <a:noFill/>
          <a:ln w="12700">
            <a:solidFill>
              <a:srgbClr val="E5E7EB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28700" y="2679700"/>
          <a:ext cx="14198600" cy="3987800"/>
        </p:xfrm>
        <a:graphic>
          <a:graphicData uri="http://schemas.openxmlformats.org/drawingml/2006/table">
            <a:tbl>
              <a:tblPr/>
              <a:tblGrid>
                <a:gridCol w="5676900"/>
                <a:gridCol w="8521700"/>
              </a:tblGrid>
              <a:tr h="660400">
                <a:tc>
                  <a:txBody>
                    <a:bodyPr wrap="square"/>
                    <a:lstStyle/>
                    <a:p>
                      <a:pPr algn="ctr">
                        <a:defRPr i="0" sz="1800" b="1">
                          <a:solidFill>
                            <a:srgbClr val="FFFFFF"/>
                          </a:solidFill>
                          <a:latin typeface="Noto Sans KR"/>
                        </a:defRPr>
                      </a:pPr>
                    </a:p>
                  </a:txBody>
                  <a:tcPr marL="152400" marR="152400" marT="152400" marB="152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2D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i="0" sz="1800" b="1">
                          <a:solidFill>
                            <a:srgbClr val="FFFFFF"/>
                          </a:solidFill>
                          <a:latin typeface="Noto Sans KR"/>
                        </a:defRPr>
                      </a:pPr>
                    </a:p>
                  </a:txBody>
                  <a:tcPr marL="152400" marR="152400" marT="152400" marB="152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2D5D"/>
                    </a:solidFill>
                  </a:tcPr>
                </a:tc>
              </a:tr>
              <a:tr h="1663700">
                <a:tc>
                  <a:txBody>
                    <a:bodyPr wrap="square"/>
                    <a:lstStyle/>
                    <a:p>
                      <a:pPr algn="l"/>
                      <a:r>
                        <a:rPr i="0" sz="1800" b="1">
                          <a:solidFill>
                            <a:srgbClr val="1F2937"/>
                          </a:solidFill>
                          <a:latin typeface="Noto Sans KR"/>
                        </a:rPr>
                        <a:t>Gemini API 모델명 404 오류</a:t>
                      </a:r>
                    </a:p>
                    <a:p>
                      <a:pPr algn="l"/>
                      <a:r>
                        <a:rPr i="0" sz="1400" b="0">
                          <a:solidFill>
                            <a:srgbClr val="4B5563"/>
                          </a:solidFill>
                          <a:latin typeface="Noto Sans KR"/>
                        </a:rPr>
                        <a:t>특정 모델 호출 시 리소스를 찾을 수 없다는 오류 발생으로 API 연동 중단</a:t>
                      </a:r>
                    </a:p>
                  </a:txBody>
                  <a:tcPr marL="304800" marR="304800" marT="304800" marB="304800" anchor="t">
                    <a:lnL w="0">
                      <a:noFill/>
                    </a:lnL>
                    <a:lnR w="12700" cmpd="sng">
                      <a:solidFill>
                        <a:srgbClr val="e2e8f0"/>
                      </a:solidFill>
                    </a:lnR>
                    <a:lnT w="0">
                      <a:noFill/>
                    </a:lnT>
                    <a:lnB w="12700" cmpd="sng">
                      <a:solidFill>
                        <a:srgbClr val="e2e8f0"/>
                      </a:solidFill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i="0" sz="1600" b="0">
                          <a:solidFill>
                            <a:srgbClr val="1A1A1A"/>
                          </a:solidFill>
                          <a:latin typeface="Noto Sans KR"/>
                        </a:defRPr>
                      </a:pPr>
                    </a:p>
                  </a:txBody>
                  <a:tcPr marL="304800" marR="304800" marT="304800" marB="304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mpd="sng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63700">
                <a:tc>
                  <a:txBody>
                    <a:bodyPr wrap="square"/>
                    <a:lstStyle/>
                    <a:p>
                      <a:pPr algn="l"/>
                      <a:r>
                        <a:rPr i="0" sz="1800" b="1">
                          <a:solidFill>
                            <a:srgbClr val="1F2937"/>
                          </a:solidFill>
                          <a:latin typeface="Noto Sans KR"/>
                        </a:rPr>
                        <a:t>마감기한 상대 표기의 모호성</a:t>
                      </a:r>
                    </a:p>
                    <a:p>
                      <a:pPr algn="l"/>
                      <a:r>
                        <a:rPr i="0" sz="1400" b="0">
                          <a:solidFill>
                            <a:srgbClr val="4B5563"/>
                          </a:solidFill>
                          <a:latin typeface="Noto Sans KR"/>
                        </a:rPr>
                        <a:t>"내주 월요일까지" 등 상대적 표현 사용 시, LLM이 정확한 일자를 계산하지 못하는 현상</a:t>
                      </a:r>
                    </a:p>
                  </a:txBody>
                  <a:tcPr marL="304800" marR="304800" marT="304800" marB="304800" anchor="t">
                    <a:lnL w="0">
                      <a:noFill/>
                    </a:lnL>
                    <a:lnR w="12700" cmpd="sng">
                      <a:solidFill>
                        <a:srgbClr val="e2e8f0"/>
                      </a:solidFill>
                    </a:lnR>
                    <a:lnT w="0">
                      <a:noFill/>
                    </a:lnT>
                    <a:lnB w="12700" cmpd="sng">
                      <a:solidFill>
                        <a:srgbClr val="e2e8f0"/>
                      </a:solidFill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i="0" sz="1600" b="0">
                          <a:solidFill>
                            <a:srgbClr val="1A1A1A"/>
                          </a:solidFill>
                          <a:latin typeface="Noto Sans KR"/>
                        </a:defRPr>
                      </a:pPr>
                    </a:p>
                  </a:txBody>
                  <a:tcPr marL="304800" marR="304800" marT="304800" marB="304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mpd="sng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5975d041-2837-48d5-904a-940bb07995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300" y="2908300"/>
            <a:ext cx="228600" cy="228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84500" y="2844800"/>
            <a:ext cx="2108200" cy="3302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i="0" sz="1800" b="1">
                <a:solidFill>
                  <a:srgbClr val="FFFFFF"/>
                </a:solidFill>
                <a:latin typeface="Noto Sans KR"/>
              </a:rPr>
              <a:t>장애 요소 (Problem)</a:t>
            </a:r>
          </a:p>
        </p:txBody>
      </p:sp>
      <p:pic>
        <p:nvPicPr>
          <p:cNvPr id="10" name="Picture 9" descr="828713b7-08bd-4791-8219-6caf0402b37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2908300"/>
            <a:ext cx="177800" cy="2286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058400" y="2844800"/>
            <a:ext cx="2095500" cy="3302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i="0" sz="1800" b="1">
                <a:solidFill>
                  <a:srgbClr val="FFFFFF"/>
                </a:solidFill>
                <a:latin typeface="Noto Sans KR"/>
              </a:rPr>
              <a:t>해결 방안 (Solution)</a:t>
            </a:r>
          </a:p>
        </p:txBody>
      </p:sp>
      <p:pic>
        <p:nvPicPr>
          <p:cNvPr id="12" name="Picture 11" descr="e7b29dd1-25f1-4275-8f78-52cafa6c37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400" y="3695700"/>
            <a:ext cx="177800" cy="2032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289800" y="3644900"/>
            <a:ext cx="3898900" cy="2540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i="0" sz="1400" b="0">
                <a:solidFill>
                  <a:srgbClr val="374151"/>
                </a:solidFill>
                <a:latin typeface="Noto Sans KR"/>
              </a:rPr>
              <a:t>GCP 계정 내 실제 지원 가능한 모델 리스트 전수 조사</a:t>
            </a:r>
          </a:p>
        </p:txBody>
      </p:sp>
      <p:pic>
        <p:nvPicPr>
          <p:cNvPr id="14" name="Picture 13" descr="e7b29dd1-25f1-4275-8f78-52cafa6c37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400" y="4051300"/>
            <a:ext cx="177800" cy="2032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289800" y="4000500"/>
            <a:ext cx="4673600" cy="2540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i="0" sz="1400" b="0">
                <a:solidFill>
                  <a:srgbClr val="374151"/>
                </a:solidFill>
                <a:latin typeface="Noto Sans KR"/>
              </a:rPr>
              <a:t>최신 안정화 버전인 'gemini-2.5-flash'로 모델명 교체 및 검증</a:t>
            </a:r>
          </a:p>
        </p:txBody>
      </p:sp>
      <p:pic>
        <p:nvPicPr>
          <p:cNvPr id="16" name="Picture 15" descr="e7b29dd1-25f1-4275-8f78-52cafa6c37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400" y="5359400"/>
            <a:ext cx="177800" cy="2032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289800" y="5308600"/>
            <a:ext cx="4343400" cy="2540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i="0" sz="1400" b="0">
                <a:solidFill>
                  <a:srgbClr val="374151"/>
                </a:solidFill>
                <a:latin typeface="Noto Sans KR"/>
              </a:rPr>
              <a:t>프론트엔드에 기준일(Today) 위젯을 추가하여 시각적 명시</a:t>
            </a:r>
          </a:p>
        </p:txBody>
      </p:sp>
      <p:pic>
        <p:nvPicPr>
          <p:cNvPr id="18" name="Picture 17" descr="e7b29dd1-25f1-4275-8f78-52cafa6c37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400" y="5715000"/>
            <a:ext cx="177800" cy="2032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289800" y="5664200"/>
            <a:ext cx="4965700" cy="2540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i="0" sz="1400" b="0">
                <a:solidFill>
                  <a:srgbClr val="374151"/>
                </a:solidFill>
                <a:latin typeface="Noto Sans KR"/>
              </a:rPr>
              <a:t>프롬프트 내 기준 시점 동적 변환 로직 적용으로 절대 날짜 자동 환산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6000" y="7073900"/>
            <a:ext cx="14224000" cy="182880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9400" rIns="279400" tIns="279400" bIns="279400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016000" y="7073900"/>
            <a:ext cx="0" cy="1828800"/>
          </a:xfrm>
          <a:prstGeom prst="line">
            <a:avLst/>
          </a:prstGeom>
          <a:ln w="76200">
            <a:solidFill>
              <a:srgbClr val="002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31c11ed7-a9fd-4b70-9c4b-353cfb93bce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7000" y="7429500"/>
            <a:ext cx="228600" cy="203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727200" y="7378700"/>
            <a:ext cx="30226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i="0" sz="1600" b="1">
                <a:solidFill>
                  <a:srgbClr val="002D5D"/>
                </a:solidFill>
                <a:latin typeface="Noto Sans KR"/>
              </a:defRPr>
            </a:pPr>
            <a:r>
              <a:rPr i="0" sz="1600" b="1">
                <a:solidFill>
                  <a:srgbClr val="002D5D"/>
                </a:solidFill>
                <a:latin typeface="Noto Sans KR"/>
              </a:rPr>
              <a:t>기타 경험적 문제점 및 개발 노하우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7000" y="7835900"/>
            <a:ext cx="44323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9CA3AF"/>
                </a:solidFill>
                <a:latin typeface="Noto Sans KR"/>
              </a:defRPr>
            </a:pPr>
            <a:r>
              <a:rPr i="0" sz="1200" b="1">
                <a:solidFill>
                  <a:srgbClr val="9CA3AF"/>
                </a:solidFill>
                <a:latin typeface="Noto Sans KR"/>
              </a:rPr>
              <a:t>PROMPT ENG.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07100" y="7835900"/>
            <a:ext cx="44323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9CA3AF"/>
                </a:solidFill>
                <a:latin typeface="Noto Sans KR"/>
              </a:defRPr>
            </a:pPr>
            <a:r>
              <a:rPr i="0" sz="1200" b="1">
                <a:solidFill>
                  <a:srgbClr val="9CA3AF"/>
                </a:solidFill>
                <a:latin typeface="Noto Sans KR"/>
              </a:rPr>
              <a:t>API STABILITY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29900" y="7835900"/>
            <a:ext cx="44323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9CA3AF"/>
                </a:solidFill>
                <a:latin typeface="Noto Sans KR"/>
              </a:defRPr>
            </a:pPr>
            <a:r>
              <a:rPr i="0" sz="1200" b="1">
                <a:solidFill>
                  <a:srgbClr val="9CA3AF"/>
                </a:solidFill>
                <a:latin typeface="Noto Sans KR"/>
              </a:rPr>
              <a:t>DATA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7000" y="8089900"/>
            <a:ext cx="43688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400" b="0">
                <a:solidFill>
                  <a:srgbClr val="374151"/>
                </a:solidFill>
                <a:latin typeface="Noto Sans KR"/>
              </a:rPr>
              <a:t>모호한 지시보다는 </a:t>
            </a:r>
            <a:r>
              <a:rPr i="0" sz="1400" b="1">
                <a:solidFill>
                  <a:srgbClr val="374151"/>
                </a:solidFill>
                <a:latin typeface="Noto Sans KR"/>
              </a:rPr>
              <a:t>명확한 제약 조건(Constraint)</a:t>
            </a:r>
            <a:r>
              <a:rPr i="0" sz="1400" b="0">
                <a:solidFill>
                  <a:srgbClr val="374151"/>
                </a:solidFill>
                <a:latin typeface="Noto Sans KR"/>
              </a:rPr>
              <a:t>을 설정할 때 출력 일관성 향상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07100" y="8089900"/>
            <a:ext cx="44323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400" b="0">
                <a:solidFill>
                  <a:srgbClr val="374151"/>
                </a:solidFill>
                <a:latin typeface="Noto Sans KR"/>
              </a:rPr>
              <a:t>API 타임아웃 방지를 위한 </a:t>
            </a:r>
            <a:r>
              <a:rPr i="0" sz="1400" b="1">
                <a:solidFill>
                  <a:srgbClr val="374151"/>
                </a:solidFill>
                <a:latin typeface="Noto Sans KR"/>
              </a:rPr>
              <a:t>Retry 로직 및 예외 처리</a:t>
            </a:r>
            <a:r>
              <a:rPr i="0" sz="1400" b="0">
                <a:solidFill>
                  <a:srgbClr val="374151"/>
                </a:solidFill>
                <a:latin typeface="Noto Sans KR"/>
              </a:rPr>
              <a:t> 구조화 필수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29900" y="8089900"/>
            <a:ext cx="43688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400" b="0">
                <a:solidFill>
                  <a:srgbClr val="374151"/>
                </a:solidFill>
                <a:latin typeface="Noto Sans KR"/>
              </a:rPr>
              <a:t>LLM 결과값의 </a:t>
            </a:r>
            <a:r>
              <a:rPr i="0" sz="1400" b="1">
                <a:solidFill>
                  <a:srgbClr val="374151"/>
                </a:solidFill>
                <a:latin typeface="Noto Sans KR"/>
              </a:rPr>
              <a:t>형식(JSON 등) 유효성 검사</a:t>
            </a:r>
            <a:r>
              <a:rPr i="0" sz="1400" b="0">
                <a:solidFill>
                  <a:srgbClr val="374151"/>
                </a:solidFill>
                <a:latin typeface="Noto Sans KR"/>
              </a:rPr>
              <a:t> 단계를 추가하여 런타임 오류 방지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800" y="9410700"/>
            <a:ext cx="10922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9CA3AF"/>
                </a:solidFill>
                <a:latin typeface="Noto Sans KR"/>
              </a:defRPr>
            </a:pPr>
            <a:r>
              <a:rPr i="0" sz="1200" b="1">
                <a:solidFill>
                  <a:srgbClr val="9CA3AF"/>
                </a:solidFill>
                <a:latin typeface="Noto Sans KR"/>
              </a:rPr>
              <a:t>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9410700"/>
            <a:ext cx="14859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9CA3AF"/>
                </a:solidFill>
                <a:latin typeface="Noto Sans KR"/>
              </a:defRPr>
            </a:pPr>
            <a:r>
              <a:rPr i="0" sz="1200" b="1">
                <a:solidFill>
                  <a:srgbClr val="9CA3AF"/>
                </a:solidFill>
                <a:latin typeface="Noto Sans KR"/>
              </a:rPr>
              <a:t>TARGET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43100" y="9512300"/>
            <a:ext cx="4953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defRPr i="0" sz="2400" b="1">
                <a:solidFill>
                  <a:srgbClr val="002D5D"/>
                </a:solidFill>
                <a:latin typeface="Noto Sans KR"/>
              </a:defRPr>
            </a:pPr>
            <a:r>
              <a:rPr i="0" sz="2400" b="1">
                <a:solidFill>
                  <a:srgbClr val="002D5D"/>
                </a:solidFill>
                <a:latin typeface="Noto Sans KR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113000" y="9588500"/>
            <a:ext cx="457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D1D5DB"/>
                </a:solidFill>
                <a:latin typeface="Noto Sans KR"/>
              </a:defRPr>
            </a:pPr>
            <a:r>
              <a:rPr i="0" sz="1400" b="1">
                <a:solidFill>
                  <a:srgbClr val="D1D5DB"/>
                </a:solidFill>
                <a:latin typeface="Noto Sans KR"/>
              </a:rPr>
              <a:t>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" y="9664700"/>
            <a:ext cx="1092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002D5D"/>
                </a:solidFill>
                <a:latin typeface="Noto Sans KR"/>
              </a:defRPr>
            </a:pPr>
            <a:r>
              <a:rPr i="0" sz="1400" b="1">
                <a:solidFill>
                  <a:srgbClr val="002D5D"/>
                </a:solidFill>
                <a:latin typeface="Noto Sans KR"/>
              </a:rPr>
              <a:t>2026-03-18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9664700"/>
            <a:ext cx="14859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002D5D"/>
                </a:solidFill>
                <a:latin typeface="Noto Sans KR"/>
              </a:defRPr>
            </a:pPr>
            <a:r>
              <a:rPr i="0" sz="1400" b="1">
                <a:solidFill>
                  <a:srgbClr val="002D5D"/>
                </a:solidFill>
                <a:latin typeface="Noto Sans KR"/>
              </a:rPr>
              <a:t>기술직 포트폴리오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762000"/>
            <a:ext cx="82677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9CA3AF"/>
                </a:solidFill>
                <a:latin typeface="Noto Sans KR"/>
              </a:defRPr>
            </a:pPr>
            <a:r>
              <a:rPr i="0" sz="2000" b="1">
                <a:solidFill>
                  <a:srgbClr val="9CA3AF"/>
                </a:solidFill>
                <a:latin typeface="Noto Sans KR"/>
              </a:rPr>
              <a:t>엔터프라이즈용 AI 시스템, 보안이 기본</a:t>
            </a:r>
          </a:p>
        </p:txBody>
      </p:sp>
      <p:pic>
        <p:nvPicPr>
          <p:cNvPr id="3" name="Picture 2" descr="d852c427-a311-44e5-9e42-7f92527445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9800" y="927100"/>
            <a:ext cx="254000" cy="25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970000" y="876300"/>
            <a:ext cx="9652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1">
                <a:solidFill>
                  <a:srgbClr val="002D5D"/>
                </a:solidFill>
                <a:latin typeface="Noto Sans KR"/>
              </a:defRPr>
            </a:pPr>
            <a:r>
              <a:rPr i="0" sz="1800" b="1">
                <a:solidFill>
                  <a:srgbClr val="002D5D"/>
                </a:solidFill>
                <a:latin typeface="Noto Sans KR"/>
              </a:rPr>
              <a:t>CLUSH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" y="1219200"/>
            <a:ext cx="82677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defRPr i="0" sz="4800" b="1">
                <a:solidFill>
                  <a:srgbClr val="002D5D"/>
                </a:solidFill>
                <a:latin typeface="Noto Sans KR"/>
              </a:defRPr>
            </a:pPr>
            <a:r>
              <a:rPr i="0" sz="4800" b="1">
                <a:solidFill>
                  <a:srgbClr val="002D5D"/>
                </a:solidFill>
                <a:latin typeface="Noto Sans KR"/>
              </a:rPr>
              <a:t>상용화 및 확장 시 보안 고려사항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2184400"/>
            <a:ext cx="1016000" cy="101600"/>
          </a:xfrm>
          <a:prstGeom prst="rect">
            <a:avLst/>
          </a:prstGeom>
          <a:solidFill>
            <a:srgbClr val="002D5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16000" y="2870200"/>
            <a:ext cx="6985000" cy="1473200"/>
          </a:xfrm>
          <a:prstGeom prst="roundRect">
            <a:avLst>
              <a:gd name="adj" fmla="val 6896"/>
            </a:avLst>
          </a:prstGeom>
          <a:solidFill>
            <a:srgbClr val="FCFCFC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228600" bIns="228600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016000" y="2870200"/>
            <a:ext cx="0" cy="1473200"/>
          </a:xfrm>
          <a:prstGeom prst="line">
            <a:avLst/>
          </a:prstGeom>
          <a:ln w="50800">
            <a:solidFill>
              <a:srgbClr val="002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16000" y="2870200"/>
            <a:ext cx="6985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16000" y="4343400"/>
            <a:ext cx="6985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001000" y="2870200"/>
            <a:ext cx="0" cy="147320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55000" y="2870200"/>
            <a:ext cx="6985000" cy="1473200"/>
          </a:xfrm>
          <a:prstGeom prst="roundRect">
            <a:avLst>
              <a:gd name="adj" fmla="val 6896"/>
            </a:avLst>
          </a:prstGeom>
          <a:solidFill>
            <a:srgbClr val="FCFCFC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228600" bIns="228600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8255000" y="2870200"/>
            <a:ext cx="0" cy="1473200"/>
          </a:xfrm>
          <a:prstGeom prst="line">
            <a:avLst/>
          </a:prstGeom>
          <a:ln w="50800">
            <a:solidFill>
              <a:srgbClr val="002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255000" y="2870200"/>
            <a:ext cx="6985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55000" y="4343400"/>
            <a:ext cx="6985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5240000" y="2870200"/>
            <a:ext cx="0" cy="147320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320800" y="31369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2D5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8500" y="3136900"/>
            <a:ext cx="5207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1">
                <a:solidFill>
                  <a:srgbClr val="002D5D"/>
                </a:solidFill>
                <a:latin typeface="Noto Sans KR"/>
              </a:defRPr>
            </a:pPr>
            <a:r>
              <a:rPr i="0" sz="1800" b="1">
                <a:solidFill>
                  <a:srgbClr val="002D5D"/>
                </a:solidFill>
                <a:latin typeface="Noto Sans KR"/>
              </a:rPr>
              <a:t>API Key 및 비밀정보 관리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59800" y="31369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2D5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7500" y="3136900"/>
            <a:ext cx="43434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1">
                <a:solidFill>
                  <a:srgbClr val="002D5D"/>
                </a:solidFill>
                <a:latin typeface="Noto Sans KR"/>
              </a:defRPr>
            </a:pPr>
            <a:r>
              <a:rPr i="0" sz="1800" b="1">
                <a:solidFill>
                  <a:srgbClr val="002D5D"/>
                </a:solidFill>
                <a:latin typeface="Noto Sans KR"/>
              </a:rPr>
              <a:t>입력 데이터 및 위협 보호</a:t>
            </a:r>
          </a:p>
        </p:txBody>
      </p:sp>
      <p:pic>
        <p:nvPicPr>
          <p:cNvPr id="21" name="Picture 20" descr="2020ca1e-e1d2-49c8-85d6-a557d3f2acd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3263900"/>
            <a:ext cx="203200" cy="203200"/>
          </a:xfrm>
          <a:prstGeom prst="rect">
            <a:avLst/>
          </a:prstGeom>
        </p:spPr>
      </p:pic>
      <p:pic>
        <p:nvPicPr>
          <p:cNvPr id="22" name="Picture 21" descr="7b53b267-50f5-48c4-b8f2-45f8856ebc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1400" y="3263900"/>
            <a:ext cx="254000" cy="203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968500" y="3530600"/>
            <a:ext cx="349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i="0" sz="1400" b="1">
                <a:solidFill>
                  <a:srgbClr val="4B5563"/>
                </a:solidFill>
                <a:latin typeface="Noto Sans KR"/>
              </a:rPr>
              <a:t>Secret Manager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를 활용한 중앙 집중식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7500" y="3530600"/>
            <a:ext cx="3962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i="0" sz="1400" b="1">
                <a:solidFill>
                  <a:srgbClr val="4B5563"/>
                </a:solidFill>
                <a:latin typeface="Noto Sans KR"/>
              </a:rPr>
              <a:t>PII 마스킹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(이름/전화번호 등 개인정보 식별 및 차단)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8500" y="3771900"/>
            <a:ext cx="5207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400" b="0">
                <a:solidFill>
                  <a:srgbClr val="4B5563"/>
                </a:solidFill>
                <a:latin typeface="Noto Sans KR"/>
              </a:rPr>
              <a:t>키 주입 및 정기 순환 정책 적용, 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 및 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 엄격 관리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30700" y="3835400"/>
            <a:ext cx="533400" cy="2032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l">
              <a:defRPr i="0" sz="1400" b="0">
                <a:solidFill>
                  <a:srgbClr val="4B5563"/>
                </a:solidFill>
                <a:latin typeface="ui-monospace"/>
              </a:defRPr>
            </a:pPr>
            <a:r>
              <a:rPr i="0" sz="1400" b="0">
                <a:solidFill>
                  <a:srgbClr val="4B5563"/>
                </a:solidFill>
                <a:latin typeface="ui-monospace"/>
              </a:rPr>
              <a:t>.env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18100" y="3835400"/>
            <a:ext cx="1168400" cy="2032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l">
              <a:defRPr i="0" sz="1400" b="0">
                <a:solidFill>
                  <a:srgbClr val="4B5563"/>
                </a:solidFill>
                <a:latin typeface="ui-monospace"/>
              </a:defRPr>
            </a:pPr>
            <a:r>
              <a:rPr i="0" sz="1400" b="0">
                <a:solidFill>
                  <a:srgbClr val="4B5563"/>
                </a:solidFill>
                <a:latin typeface="ui-monospace"/>
              </a:rPr>
              <a:t>.gitignore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7500" y="3771900"/>
            <a:ext cx="4343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400" b="0">
                <a:solidFill>
                  <a:srgbClr val="4B5563"/>
                </a:solidFill>
                <a:latin typeface="Noto Sans KR"/>
              </a:rPr>
              <a:t>프롬프트 인젝션 방어 필터 적용 및 비정상 입력 길이 제한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6000" y="4597400"/>
            <a:ext cx="6985000" cy="1435100"/>
          </a:xfrm>
          <a:prstGeom prst="roundRect">
            <a:avLst>
              <a:gd name="adj" fmla="val 7079"/>
            </a:avLst>
          </a:prstGeom>
          <a:solidFill>
            <a:srgbClr val="FCFCFC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228600" bIns="228600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1016000" y="4597400"/>
            <a:ext cx="0" cy="1435100"/>
          </a:xfrm>
          <a:prstGeom prst="line">
            <a:avLst/>
          </a:prstGeom>
          <a:ln w="50800">
            <a:solidFill>
              <a:srgbClr val="002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16000" y="4597400"/>
            <a:ext cx="6985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16000" y="6019800"/>
            <a:ext cx="6985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4597400"/>
            <a:ext cx="0" cy="143510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255000" y="4597400"/>
            <a:ext cx="6985000" cy="1435100"/>
          </a:xfrm>
          <a:prstGeom prst="roundRect">
            <a:avLst>
              <a:gd name="adj" fmla="val 7079"/>
            </a:avLst>
          </a:prstGeom>
          <a:solidFill>
            <a:srgbClr val="FCFCFC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228600" bIns="228600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8255000" y="4597400"/>
            <a:ext cx="0" cy="1435100"/>
          </a:xfrm>
          <a:prstGeom prst="line">
            <a:avLst/>
          </a:prstGeom>
          <a:ln w="50800">
            <a:solidFill>
              <a:srgbClr val="002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255000" y="4597400"/>
            <a:ext cx="6985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255000" y="6019800"/>
            <a:ext cx="6985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5240000" y="4597400"/>
            <a:ext cx="0" cy="143510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320800" y="48641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2D5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68500" y="4864100"/>
            <a:ext cx="4267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1">
                <a:solidFill>
                  <a:srgbClr val="002D5D"/>
                </a:solidFill>
                <a:latin typeface="Noto Sans KR"/>
              </a:defRPr>
            </a:pPr>
            <a:r>
              <a:rPr i="0" sz="1800" b="1">
                <a:solidFill>
                  <a:srgbClr val="002D5D"/>
                </a:solidFill>
                <a:latin typeface="Noto Sans KR"/>
              </a:rPr>
              <a:t>통신 인프라 보안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59800" y="48641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2D5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07500" y="4864100"/>
            <a:ext cx="42291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1">
                <a:solidFill>
                  <a:srgbClr val="002D5D"/>
                </a:solidFill>
                <a:latin typeface="Noto Sans KR"/>
              </a:defRPr>
            </a:pPr>
            <a:r>
              <a:rPr i="0" sz="1800" b="1">
                <a:solidFill>
                  <a:srgbClr val="002D5D"/>
                </a:solidFill>
                <a:latin typeface="Noto Sans KR"/>
              </a:rPr>
              <a:t>강력한 인증 및 인가 (RBAC)</a:t>
            </a:r>
          </a:p>
        </p:txBody>
      </p:sp>
      <p:pic>
        <p:nvPicPr>
          <p:cNvPr id="43" name="Picture 42" descr="48a65fbf-324f-4eb9-a224-bbaa5e743b7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2400" y="4991100"/>
            <a:ext cx="254000" cy="203200"/>
          </a:xfrm>
          <a:prstGeom prst="rect">
            <a:avLst/>
          </a:prstGeom>
        </p:spPr>
      </p:pic>
      <p:pic>
        <p:nvPicPr>
          <p:cNvPr id="44" name="Picture 43" descr="f9ed3772-2fee-4d06-bd78-6ea8e3bdf3b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4100" y="4991100"/>
            <a:ext cx="228600" cy="2032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968500" y="5257800"/>
            <a:ext cx="35687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400" b="0">
                <a:solidFill>
                  <a:srgbClr val="4B5563"/>
                </a:solidFill>
                <a:latin typeface="Noto Sans KR"/>
              </a:rPr>
              <a:t>전 구간 </a:t>
            </a:r>
            <a:r>
              <a:rPr i="0" sz="1400" b="1">
                <a:solidFill>
                  <a:srgbClr val="4B5563"/>
                </a:solidFill>
                <a:latin typeface="Noto Sans KR"/>
              </a:rPr>
              <a:t>TLS 암호화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 적용으로 데이터 도청 방지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07500" y="5257800"/>
            <a:ext cx="33147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i="0" sz="1400" b="1">
                <a:solidFill>
                  <a:srgbClr val="4B5563"/>
                </a:solidFill>
                <a:latin typeface="Noto Sans KR"/>
              </a:rPr>
              <a:t>SSO(Single Sign-On)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 및 OAuth2.0 연동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68500" y="5499100"/>
            <a:ext cx="4267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400" b="0">
                <a:solidFill>
                  <a:srgbClr val="4B5563"/>
                </a:solidFill>
                <a:latin typeface="Noto Sans KR"/>
              </a:rPr>
              <a:t>사내 도메인 기반 </a:t>
            </a:r>
            <a:r>
              <a:rPr i="0" sz="1400" b="1">
                <a:solidFill>
                  <a:srgbClr val="4B5563"/>
                </a:solidFill>
                <a:latin typeface="Noto Sans KR"/>
              </a:rPr>
              <a:t>CORS 화이트리스트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 정책 수립 및 운영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07500" y="5499100"/>
            <a:ext cx="42291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400" b="0">
                <a:solidFill>
                  <a:srgbClr val="4B5563"/>
                </a:solidFill>
                <a:latin typeface="Noto Sans KR"/>
              </a:rPr>
              <a:t>JWT 기반 세션 관리와 역할 기반 접근 제어(RBAC) 구현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16000" y="6273800"/>
            <a:ext cx="6985000" cy="1435100"/>
          </a:xfrm>
          <a:prstGeom prst="roundRect">
            <a:avLst>
              <a:gd name="adj" fmla="val 7079"/>
            </a:avLst>
          </a:prstGeom>
          <a:solidFill>
            <a:srgbClr val="FCFCFC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228600" bIns="228600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1016000" y="6273800"/>
            <a:ext cx="0" cy="1435100"/>
          </a:xfrm>
          <a:prstGeom prst="line">
            <a:avLst/>
          </a:prstGeom>
          <a:ln w="50800">
            <a:solidFill>
              <a:srgbClr val="002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16000" y="6273800"/>
            <a:ext cx="6985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16000" y="7708900"/>
            <a:ext cx="6985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001000" y="6273800"/>
            <a:ext cx="0" cy="143510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8255000" y="6273800"/>
            <a:ext cx="6985000" cy="1435100"/>
          </a:xfrm>
          <a:prstGeom prst="roundRect">
            <a:avLst>
              <a:gd name="adj" fmla="val 7079"/>
            </a:avLst>
          </a:prstGeom>
          <a:solidFill>
            <a:srgbClr val="FCFCFC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228600" bIns="228600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8255000" y="6273800"/>
            <a:ext cx="0" cy="1435100"/>
          </a:xfrm>
          <a:prstGeom prst="line">
            <a:avLst/>
          </a:prstGeom>
          <a:ln w="50800">
            <a:solidFill>
              <a:srgbClr val="002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255000" y="6273800"/>
            <a:ext cx="6985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255000" y="7708900"/>
            <a:ext cx="6985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5240000" y="6273800"/>
            <a:ext cx="0" cy="143510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1320800" y="65405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2D5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968500" y="6540500"/>
            <a:ext cx="41275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1">
                <a:solidFill>
                  <a:srgbClr val="002D5D"/>
                </a:solidFill>
                <a:latin typeface="Noto Sans KR"/>
              </a:defRPr>
            </a:pPr>
            <a:r>
              <a:rPr i="0" sz="1800" b="1">
                <a:solidFill>
                  <a:srgbClr val="002D5D"/>
                </a:solidFill>
                <a:latin typeface="Noto Sans KR"/>
              </a:rPr>
              <a:t>데이터 거버넌스 및 준거성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559800" y="65405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2D5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07500" y="6540500"/>
            <a:ext cx="38354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1">
                <a:solidFill>
                  <a:srgbClr val="002D5D"/>
                </a:solidFill>
                <a:latin typeface="Noto Sans KR"/>
              </a:defRPr>
            </a:pPr>
            <a:r>
              <a:rPr i="0" sz="1800" b="1">
                <a:solidFill>
                  <a:srgbClr val="002D5D"/>
                </a:solidFill>
                <a:latin typeface="Noto Sans KR"/>
              </a:rPr>
              <a:t>감사 이력 및 가용성 확보</a:t>
            </a:r>
          </a:p>
        </p:txBody>
      </p:sp>
      <p:pic>
        <p:nvPicPr>
          <p:cNvPr id="63" name="Picture 62" descr="579f9939-6a29-4a7e-9849-7921612fa1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200" y="6667500"/>
            <a:ext cx="152400" cy="203200"/>
          </a:xfrm>
          <a:prstGeom prst="rect">
            <a:avLst/>
          </a:prstGeom>
        </p:spPr>
      </p:pic>
      <p:pic>
        <p:nvPicPr>
          <p:cNvPr id="64" name="Picture 63" descr="d1ed1998-26ec-46a6-928a-e3aee2386cb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0" y="6667500"/>
            <a:ext cx="203200" cy="20320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968500" y="6934200"/>
            <a:ext cx="34417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400" b="0">
                <a:solidFill>
                  <a:srgbClr val="4B5563"/>
                </a:solidFill>
                <a:latin typeface="Noto Sans KR"/>
              </a:rPr>
              <a:t>외부 전송 데이터에 대한 </a:t>
            </a:r>
            <a:r>
              <a:rPr i="0" sz="1400" b="1">
                <a:solidFill>
                  <a:srgbClr val="4B5563"/>
                </a:solidFill>
                <a:latin typeface="Noto Sans KR"/>
              </a:rPr>
              <a:t>DPA 계약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 필수 검토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07500" y="69342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400" b="0">
                <a:solidFill>
                  <a:srgbClr val="4B5563"/>
                </a:solidFill>
                <a:latin typeface="Noto Sans KR"/>
              </a:rPr>
              <a:t>전체 접근 및 </a:t>
            </a:r>
            <a:r>
              <a:rPr i="0" sz="1400" b="1">
                <a:solidFill>
                  <a:srgbClr val="4B5563"/>
                </a:solidFill>
                <a:latin typeface="Noto Sans KR"/>
              </a:rPr>
              <a:t>추론 이력 감사(Auditing)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 로그 보존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68500" y="7175500"/>
            <a:ext cx="4127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400" b="0">
                <a:solidFill>
                  <a:srgbClr val="4B5563"/>
                </a:solidFill>
                <a:latin typeface="Noto Sans KR"/>
              </a:rPr>
              <a:t>기밀 데이터 처리를 위한 </a:t>
            </a:r>
            <a:r>
              <a:rPr i="0" sz="1400" b="1">
                <a:solidFill>
                  <a:srgbClr val="4B5563"/>
                </a:solidFill>
                <a:latin typeface="Noto Sans KR"/>
              </a:rPr>
              <a:t>Llama 온프레미스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 도입 검토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07500" y="7175500"/>
            <a:ext cx="3835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400" b="0">
                <a:solidFill>
                  <a:srgbClr val="4B5563"/>
                </a:solidFill>
                <a:latin typeface="Noto Sans KR"/>
              </a:rPr>
              <a:t>API 오남용 방지를 위한 </a:t>
            </a:r>
            <a:r>
              <a:rPr i="0" sz="1400" b="1">
                <a:solidFill>
                  <a:srgbClr val="4B5563"/>
                </a:solidFill>
                <a:latin typeface="Noto Sans KR"/>
              </a:rPr>
              <a:t>Rate Limiting</a:t>
            </a:r>
            <a:r>
              <a:rPr i="0" sz="1400" b="0">
                <a:solidFill>
                  <a:srgbClr val="4B5563"/>
                </a:solidFill>
                <a:latin typeface="Noto Sans KR"/>
              </a:rPr>
              <a:t> 정책 적용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16000" y="8115300"/>
            <a:ext cx="3784600" cy="584200"/>
          </a:xfrm>
          <a:prstGeom prst="roundRect">
            <a:avLst>
              <a:gd name="adj" fmla="val 17391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228600" tIns="127000" bIns="127000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5003800" y="8115300"/>
            <a:ext cx="2921000" cy="584200"/>
          </a:xfrm>
          <a:prstGeom prst="roundRect">
            <a:avLst>
              <a:gd name="adj" fmla="val 17391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228600" tIns="127000" bIns="127000"/>
          <a:lstStyle/>
          <a:p>
            <a:pPr algn="ctr"/>
          </a:p>
        </p:txBody>
      </p:sp>
      <p:pic>
        <p:nvPicPr>
          <p:cNvPr id="71" name="Picture 70" descr="23232bad-db00-48a1-b0e6-3e137f8c4b0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2700" y="8305800"/>
            <a:ext cx="203200" cy="20320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638300" y="8280400"/>
            <a:ext cx="3022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002D5D"/>
                </a:solidFill>
                <a:latin typeface="Noto Sans KR"/>
              </a:defRPr>
            </a:pPr>
            <a:r>
              <a:rPr i="0" sz="1400" b="1">
                <a:solidFill>
                  <a:srgbClr val="002D5D"/>
                </a:solidFill>
                <a:latin typeface="Noto Sans KR"/>
              </a:rPr>
              <a:t>보안 우선 설계 (Security by Design)</a:t>
            </a:r>
          </a:p>
        </p:txBody>
      </p:sp>
      <p:pic>
        <p:nvPicPr>
          <p:cNvPr id="73" name="Picture 72" descr="ab98cbff-41b9-4852-b953-c915e8cfa76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70500" y="8305800"/>
            <a:ext cx="177800" cy="20320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5600700" y="8280400"/>
            <a:ext cx="2184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002D5D"/>
                </a:solidFill>
                <a:latin typeface="Noto Sans KR"/>
              </a:defRPr>
            </a:pPr>
            <a:r>
              <a:rPr i="0" sz="1400" b="1">
                <a:solidFill>
                  <a:srgbClr val="002D5D"/>
                </a:solidFill>
                <a:latin typeface="Noto Sans KR"/>
              </a:rPr>
              <a:t>컴플라이언스 준수 모니터링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2800" y="9207500"/>
            <a:ext cx="10922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9CA3AF"/>
                </a:solidFill>
                <a:latin typeface="Noto Sans KR"/>
              </a:defRPr>
            </a:pPr>
            <a:r>
              <a:rPr i="0" sz="1200" b="1">
                <a:solidFill>
                  <a:srgbClr val="9CA3AF"/>
                </a:solidFill>
                <a:latin typeface="Noto Sans KR"/>
              </a:rPr>
              <a:t>DATE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286000" y="9207500"/>
            <a:ext cx="17653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9CA3AF"/>
                </a:solidFill>
                <a:latin typeface="Noto Sans KR"/>
              </a:defRPr>
            </a:pPr>
            <a:r>
              <a:rPr i="0" sz="1200" b="1">
                <a:solidFill>
                  <a:srgbClr val="9CA3AF"/>
                </a:solidFill>
                <a:latin typeface="Noto Sans KR"/>
              </a:rPr>
              <a:t>SUBJECT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4643100" y="9309100"/>
            <a:ext cx="4953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defRPr i="0" sz="2400" b="1">
                <a:solidFill>
                  <a:srgbClr val="002D5D"/>
                </a:solidFill>
                <a:latin typeface="Noto Sans KR"/>
              </a:defRPr>
            </a:pPr>
            <a:r>
              <a:rPr i="0" sz="2400" b="1">
                <a:solidFill>
                  <a:srgbClr val="002D5D"/>
                </a:solidFill>
                <a:latin typeface="Noto Sans KR"/>
              </a:rPr>
              <a:t>11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5113000" y="9385300"/>
            <a:ext cx="457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D1D5DB"/>
                </a:solidFill>
                <a:latin typeface="Noto Sans KR"/>
              </a:defRPr>
            </a:pPr>
            <a:r>
              <a:rPr i="0" sz="1400" b="1">
                <a:solidFill>
                  <a:srgbClr val="D1D5DB"/>
                </a:solidFill>
                <a:latin typeface="Noto Sans KR"/>
              </a:rPr>
              <a:t>/ 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2800" y="9461500"/>
            <a:ext cx="1092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002D5D"/>
                </a:solidFill>
                <a:latin typeface="Noto Sans KR"/>
              </a:defRPr>
            </a:pPr>
            <a:r>
              <a:rPr i="0" sz="1400" b="1">
                <a:solidFill>
                  <a:srgbClr val="002D5D"/>
                </a:solidFill>
                <a:latin typeface="Noto Sans KR"/>
              </a:rPr>
              <a:t>2026-03-18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286000" y="9461500"/>
            <a:ext cx="17653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002D5D"/>
                </a:solidFill>
                <a:latin typeface="Noto Sans KR"/>
              </a:defRPr>
            </a:pPr>
            <a:r>
              <a:rPr i="0" sz="1400" b="1">
                <a:solidFill>
                  <a:srgbClr val="002D5D"/>
                </a:solidFill>
                <a:latin typeface="Noto Sans KR"/>
              </a:rPr>
              <a:t>AI System Security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69400"/>
            <a:ext cx="16256000" cy="13335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87400" rIns="787400" tIns="381000" bIns="3810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762000"/>
            <a:ext cx="81915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9CA3AF"/>
                </a:solidFill>
                <a:latin typeface="Noto Sans KR"/>
              </a:defRPr>
            </a:pPr>
            <a:r>
              <a:rPr i="0" sz="2000" b="1">
                <a:solidFill>
                  <a:srgbClr val="9CA3AF"/>
                </a:solidFill>
                <a:latin typeface="Noto Sans KR"/>
              </a:rPr>
              <a:t>FUTURE &amp; VISION SUMMARY</a:t>
            </a:r>
          </a:p>
        </p:txBody>
      </p:sp>
      <p:pic>
        <p:nvPicPr>
          <p:cNvPr id="4" name="Picture 3" descr="d852c427-a311-44e5-9e42-7f92527445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9800" y="927100"/>
            <a:ext cx="254000" cy="25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970000" y="876300"/>
            <a:ext cx="9652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1">
                <a:solidFill>
                  <a:srgbClr val="002D5D"/>
                </a:solidFill>
                <a:latin typeface="Noto Sans KR"/>
              </a:defRPr>
            </a:pPr>
            <a:r>
              <a:rPr i="0" sz="1800" b="1">
                <a:solidFill>
                  <a:srgbClr val="002D5D"/>
                </a:solidFill>
                <a:latin typeface="Noto Sans KR"/>
              </a:rPr>
              <a:t>CLUSH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1219200"/>
            <a:ext cx="8191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defRPr i="0" sz="4800" b="1">
                <a:solidFill>
                  <a:srgbClr val="002D5D"/>
                </a:solidFill>
                <a:latin typeface="Noto Sans KR"/>
              </a:defRPr>
            </a:pPr>
            <a:r>
              <a:rPr i="0" sz="4800" b="1">
                <a:solidFill>
                  <a:srgbClr val="002D5D"/>
                </a:solidFill>
                <a:latin typeface="Noto Sans KR"/>
              </a:rPr>
              <a:t>Clush의 AI 업무 자동화의 미래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082800"/>
            <a:ext cx="81915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defRPr i="0" sz="2400" b="0">
                <a:solidFill>
                  <a:srgbClr val="4B5563"/>
                </a:solidFill>
                <a:latin typeface="Noto Sans KR"/>
              </a:defRPr>
            </a:pPr>
            <a:r>
              <a:rPr i="0" sz="2400" b="0">
                <a:solidFill>
                  <a:srgbClr val="4B5563"/>
                </a:solidFill>
                <a:latin typeface="Noto Sans KR"/>
              </a:rPr>
              <a:t>진화하는 엔터프라이즈 AI, 조직 혁신의 중심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6000" y="3073400"/>
            <a:ext cx="6908800" cy="3302000"/>
          </a:xfrm>
          <a:prstGeom prst="roundRect">
            <a:avLst>
              <a:gd name="adj" fmla="val 4615"/>
            </a:avLst>
          </a:prstGeom>
          <a:solidFill>
            <a:srgbClr val="F8F9FB"/>
          </a:solidFill>
          <a:ln>
            <a:noFill/>
          </a:ln>
          <a:effectLst>
            <a:outerShdw blurRad="25400" dir="9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0" rIns="381000" tIns="381000" bIns="381000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016000" y="3073400"/>
            <a:ext cx="6908800" cy="0"/>
          </a:xfrm>
          <a:prstGeom prst="line">
            <a:avLst/>
          </a:prstGeom>
          <a:ln w="50800">
            <a:solidFill>
              <a:srgbClr val="002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31200" y="3073400"/>
            <a:ext cx="6908800" cy="3302000"/>
          </a:xfrm>
          <a:prstGeom prst="roundRect">
            <a:avLst>
              <a:gd name="adj" fmla="val 4615"/>
            </a:avLst>
          </a:prstGeom>
          <a:solidFill>
            <a:srgbClr val="F8F9FB"/>
          </a:solidFill>
          <a:ln>
            <a:noFill/>
          </a:ln>
          <a:effectLst>
            <a:outerShdw blurRad="25400" dir="9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0" rIns="381000" tIns="381000" bIns="381000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331200" y="3073400"/>
            <a:ext cx="6908800" cy="0"/>
          </a:xfrm>
          <a:prstGeom prst="line">
            <a:avLst/>
          </a:prstGeom>
          <a:ln w="50800">
            <a:solidFill>
              <a:srgbClr val="002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422400" y="3530600"/>
            <a:ext cx="508000" cy="508000"/>
          </a:xfrm>
          <a:prstGeom prst="roundRect">
            <a:avLst>
              <a:gd name="adj" fmla="val 20000"/>
            </a:avLst>
          </a:prstGeom>
          <a:solidFill>
            <a:srgbClr val="002D5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82800" y="3581400"/>
            <a:ext cx="35941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defRPr i="0" sz="2400" b="1">
                <a:solidFill>
                  <a:srgbClr val="002D5D"/>
                </a:solidFill>
                <a:latin typeface="Noto Sans KR"/>
              </a:defRPr>
            </a:pPr>
            <a:r>
              <a:rPr i="0" sz="2400" b="1">
                <a:solidFill>
                  <a:srgbClr val="002D5D"/>
                </a:solidFill>
                <a:latin typeface="Noto Sans KR"/>
              </a:rPr>
              <a:t>AI Agent 기반 실무 자동화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7600" y="3530600"/>
            <a:ext cx="508000" cy="508000"/>
          </a:xfrm>
          <a:prstGeom prst="roundRect">
            <a:avLst>
              <a:gd name="adj" fmla="val 20000"/>
            </a:avLst>
          </a:prstGeom>
          <a:solidFill>
            <a:srgbClr val="002D5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pic>
        <p:nvPicPr>
          <p:cNvPr id="15" name="Picture 14" descr="216babc6-0b11-4511-a008-bb4e7df280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700" y="3606800"/>
            <a:ext cx="292100" cy="355600"/>
          </a:xfrm>
          <a:prstGeom prst="rect">
            <a:avLst/>
          </a:prstGeom>
        </p:spPr>
      </p:pic>
      <p:pic>
        <p:nvPicPr>
          <p:cNvPr id="16" name="Picture 15" descr="11bd3cdb-30c8-4fd2-a472-70794952d31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7300" y="3606800"/>
            <a:ext cx="228600" cy="355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98000" y="3581400"/>
            <a:ext cx="29972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defRPr i="0" sz="2400" b="1">
                <a:solidFill>
                  <a:srgbClr val="002D5D"/>
                </a:solidFill>
                <a:latin typeface="Noto Sans KR"/>
              </a:defRPr>
            </a:pPr>
            <a:r>
              <a:rPr i="0" sz="2400" b="1">
                <a:solidFill>
                  <a:srgbClr val="002D5D"/>
                </a:solidFill>
                <a:latin typeface="Noto Sans KR"/>
              </a:rPr>
              <a:t>향후 확장 및 진화 방향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2400" y="4343400"/>
            <a:ext cx="1790700" cy="5842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12700">
            <a:solidFill>
              <a:srgbClr val="F3F4F6"/>
            </a:solidFill>
          </a:ln>
          <a:effectLst>
            <a:outerShdw blurRad="25400" dir="9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27000" tIns="127000" bIns="127000"/>
          <a:lstStyle/>
          <a:p>
            <a:pPr algn="ctr">
              <a:lnSpc>
                <a:spcPct val="113000"/>
              </a:lnSpc>
              <a:defRPr i="0" sz="1400" b="0">
                <a:solidFill>
                  <a:srgbClr val="1A1A1A"/>
                </a:solidFill>
                <a:latin typeface="Noto Sans KR"/>
              </a:defRPr>
            </a:pPr>
            <a:r>
              <a:rPr i="0" sz="1400" b="0">
                <a:solidFill>
                  <a:srgbClr val="1A1A1A"/>
                </a:solidFill>
                <a:latin typeface="Noto Sans KR"/>
              </a:rPr>
              <a:t>업무 데이터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81400" y="4343400"/>
            <a:ext cx="1790700" cy="5842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12700">
            <a:solidFill>
              <a:srgbClr val="F3F4F6"/>
            </a:solidFill>
          </a:ln>
          <a:effectLst>
            <a:outerShdw blurRad="25400" dir="9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27000" tIns="127000" bIns="127000"/>
          <a:lstStyle/>
          <a:p>
            <a:pPr algn="ctr">
              <a:lnSpc>
                <a:spcPct val="113000"/>
              </a:lnSpc>
              <a:defRPr i="0" sz="1400" b="0">
                <a:solidFill>
                  <a:srgbClr val="1A1A1A"/>
                </a:solidFill>
                <a:latin typeface="Noto Sans KR"/>
              </a:defRPr>
            </a:pPr>
            <a:r>
              <a:rPr i="0" sz="1400" b="0">
                <a:solidFill>
                  <a:srgbClr val="1A1A1A"/>
                </a:solidFill>
                <a:latin typeface="Noto Sans KR"/>
              </a:rPr>
              <a:t>요약 및 Action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27700" y="4343400"/>
            <a:ext cx="1790700" cy="5842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12700">
            <a:solidFill>
              <a:srgbClr val="F3F4F6"/>
            </a:solidFill>
          </a:ln>
          <a:effectLst>
            <a:outerShdw blurRad="25400" dir="9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27000" tIns="127000" bIns="127000"/>
          <a:lstStyle/>
          <a:p>
            <a:pPr algn="ctr">
              <a:lnSpc>
                <a:spcPct val="113000"/>
              </a:lnSpc>
              <a:defRPr i="0" sz="1400" b="0">
                <a:solidFill>
                  <a:srgbClr val="1A1A1A"/>
                </a:solidFill>
                <a:latin typeface="Noto Sans KR"/>
              </a:defRPr>
            </a:pPr>
            <a:r>
              <a:rPr i="0" sz="1400" b="0">
                <a:solidFill>
                  <a:srgbClr val="1A1A1A"/>
                </a:solidFill>
                <a:latin typeface="Noto Sans KR"/>
              </a:rPr>
              <a:t>실행 자동화</a:t>
            </a:r>
          </a:p>
        </p:txBody>
      </p:sp>
      <p:pic>
        <p:nvPicPr>
          <p:cNvPr id="21" name="Picture 20" descr="fcc70ae1-99d5-4fc6-bd9b-fb2c208811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7600" y="4394200"/>
            <a:ext cx="203200" cy="203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093200" y="4343400"/>
            <a:ext cx="16256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1">
                <a:solidFill>
                  <a:srgbClr val="1F2937"/>
                </a:solidFill>
                <a:latin typeface="Noto Sans KR"/>
              </a:defRPr>
            </a:pPr>
            <a:r>
              <a:rPr i="0" sz="1600" b="1">
                <a:solidFill>
                  <a:srgbClr val="1F2937"/>
                </a:solidFill>
                <a:latin typeface="Noto Sans KR"/>
              </a:rPr>
              <a:t>금융·제조 맞춤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39600" y="4343400"/>
            <a:ext cx="1841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1">
                <a:solidFill>
                  <a:srgbClr val="1F2937"/>
                </a:solidFill>
                <a:latin typeface="Noto Sans KR"/>
              </a:defRPr>
            </a:pPr>
            <a:r>
              <a:rPr i="0" sz="1600" b="1">
                <a:solidFill>
                  <a:srgbClr val="1F2937"/>
                </a:solidFill>
                <a:latin typeface="Noto Sans KR"/>
              </a:rPr>
              <a:t>Cloud Native 통합</a:t>
            </a:r>
          </a:p>
        </p:txBody>
      </p:sp>
      <p:pic>
        <p:nvPicPr>
          <p:cNvPr id="24" name="Picture 23" descr="ae4d275f-ed44-43ed-b5b5-79e9befe874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0100" y="4546600"/>
            <a:ext cx="114300" cy="177800"/>
          </a:xfrm>
          <a:prstGeom prst="rect">
            <a:avLst/>
          </a:prstGeom>
        </p:spPr>
      </p:pic>
      <p:pic>
        <p:nvPicPr>
          <p:cNvPr id="25" name="Picture 24" descr="ae4d275f-ed44-43ed-b5b5-79e9befe874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4546600"/>
            <a:ext cx="114300" cy="177800"/>
          </a:xfrm>
          <a:prstGeom prst="rect">
            <a:avLst/>
          </a:prstGeom>
        </p:spPr>
      </p:pic>
      <p:pic>
        <p:nvPicPr>
          <p:cNvPr id="26" name="Picture 25" descr="b10c6631-9535-4758-aad6-d8335aef10c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7600" y="5003800"/>
            <a:ext cx="152400" cy="203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991600" y="4953000"/>
            <a:ext cx="4635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600" b="0">
                <a:solidFill>
                  <a:srgbClr val="374151"/>
                </a:solidFill>
                <a:latin typeface="Noto Sans KR"/>
              </a:rPr>
              <a:t>산업별 특화 데이터 학습을 통한 </a:t>
            </a:r>
            <a:r>
              <a:rPr i="0" sz="1600" b="1">
                <a:solidFill>
                  <a:srgbClr val="374151"/>
                </a:solidFill>
                <a:latin typeface="Noto Sans KR"/>
              </a:rPr>
              <a:t>정교한 버티컬 솔루션</a:t>
            </a:r>
          </a:p>
        </p:txBody>
      </p:sp>
      <p:pic>
        <p:nvPicPr>
          <p:cNvPr id="28" name="Picture 27" descr="b10c6631-9535-4758-aad6-d8335aef10c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2400" y="5283200"/>
            <a:ext cx="152400" cy="2032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676400" y="5232400"/>
            <a:ext cx="42672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600" b="0">
                <a:solidFill>
                  <a:srgbClr val="374151"/>
                </a:solidFill>
                <a:latin typeface="Noto Sans KR"/>
              </a:rPr>
              <a:t>통합 캘린더 및 성과 공유까지 </a:t>
            </a:r>
            <a:r>
              <a:rPr i="0" sz="1600" b="1">
                <a:solidFill>
                  <a:srgbClr val="374151"/>
                </a:solidFill>
                <a:latin typeface="Noto Sans KR"/>
              </a:rPr>
              <a:t>원스톱 서비스</a:t>
            </a:r>
            <a:r>
              <a:rPr i="0" sz="1600" b="0">
                <a:solidFill>
                  <a:srgbClr val="374151"/>
                </a:solidFill>
                <a:latin typeface="Noto Sans KR"/>
              </a:rPr>
              <a:t> 제공</a:t>
            </a:r>
          </a:p>
        </p:txBody>
      </p:sp>
      <p:pic>
        <p:nvPicPr>
          <p:cNvPr id="30" name="Picture 29" descr="b10c6631-9535-4758-aad6-d8335aef10c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7600" y="5410200"/>
            <a:ext cx="152400" cy="2032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991600" y="5359400"/>
            <a:ext cx="43434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600" b="0">
                <a:solidFill>
                  <a:srgbClr val="374151"/>
                </a:solidFill>
                <a:latin typeface="Noto Sans KR"/>
              </a:rPr>
              <a:t>차세대 플랫폼 진화로 </a:t>
            </a:r>
            <a:r>
              <a:rPr i="0" sz="1600" b="1">
                <a:solidFill>
                  <a:srgbClr val="374151"/>
                </a:solidFill>
                <a:latin typeface="Noto Sans KR"/>
              </a:rPr>
              <a:t>엔터프라이즈 확장성</a:t>
            </a:r>
            <a:r>
              <a:rPr i="0" sz="1600" b="0">
                <a:solidFill>
                  <a:srgbClr val="374151"/>
                </a:solidFill>
                <a:latin typeface="Noto Sans KR"/>
              </a:rPr>
              <a:t> 극대화</a:t>
            </a:r>
          </a:p>
        </p:txBody>
      </p:sp>
      <p:pic>
        <p:nvPicPr>
          <p:cNvPr id="32" name="Picture 31" descr="b10c6631-9535-4758-aad6-d8335aef10c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2400" y="5689600"/>
            <a:ext cx="152400" cy="203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676400" y="5638800"/>
            <a:ext cx="4699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600" b="0">
                <a:solidFill>
                  <a:srgbClr val="374151"/>
                </a:solidFill>
                <a:latin typeface="Noto Sans KR"/>
              </a:rPr>
              <a:t>반복 업무 제거를 통한 </a:t>
            </a:r>
            <a:r>
              <a:rPr i="0" sz="1600" b="1">
                <a:solidFill>
                  <a:srgbClr val="374151"/>
                </a:solidFill>
                <a:latin typeface="Noto Sans KR"/>
              </a:rPr>
              <a:t>고부가가치 업무 집중</a:t>
            </a:r>
            <a:r>
              <a:rPr i="0" sz="1600" b="0">
                <a:solidFill>
                  <a:srgbClr val="374151"/>
                </a:solidFill>
                <a:latin typeface="Noto Sans KR"/>
              </a:rPr>
              <a:t> 환경 조성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6000" y="6781800"/>
            <a:ext cx="14224000" cy="1879600"/>
          </a:xfrm>
          <a:prstGeom prst="roundRect">
            <a:avLst>
              <a:gd name="adj" fmla="val 8108"/>
            </a:avLst>
          </a:prstGeom>
          <a:gradFill rotWithShape="1">
            <a:gsLst>
              <a:gs pos="0">
                <a:srgbClr val="002D5D"/>
              </a:gs>
              <a:gs pos="100000">
                <a:srgbClr val="004A99"/>
              </a:gs>
            </a:gsLst>
            <a:lin scaled="0" ang="0"/>
          </a:gra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82600" rIns="482600" tIns="355600" bIns="35560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24000" y="7162800"/>
            <a:ext cx="90805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FFFFFF"/>
                </a:solidFill>
                <a:latin typeface="Noto Sans KR"/>
              </a:defRPr>
            </a:pPr>
            <a:r>
              <a:rPr i="0" sz="2000" b="1">
                <a:solidFill>
                  <a:srgbClr val="FFFFFF"/>
                </a:solidFill>
                <a:latin typeface="Noto Sans KR"/>
              </a:rPr>
              <a:t>"AI 도입은 단순한 도구 활용이 아닌 디지털 혁신의 출발점입니다."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77500" y="7175500"/>
            <a:ext cx="1943100" cy="1092200"/>
          </a:xfrm>
          <a:prstGeom prst="roundRect">
            <a:avLst>
              <a:gd name="adj" fmla="val 930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7800" rIns="177800" tIns="177800" bIns="177800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2623800" y="7175500"/>
            <a:ext cx="2108200" cy="1092200"/>
          </a:xfrm>
          <a:prstGeom prst="roundRect">
            <a:avLst>
              <a:gd name="adj" fmla="val 930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7800" rIns="177800" tIns="177800" bIns="17780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93400" y="7391400"/>
            <a:ext cx="16383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200" b="1">
                <a:solidFill>
                  <a:srgbClr val="FFFFFF"/>
                </a:solidFill>
                <a:latin typeface="Noto Sans KR"/>
              </a:defRPr>
            </a:pPr>
            <a:r>
              <a:rPr i="0" sz="1200" b="1">
                <a:solidFill>
                  <a:srgbClr val="FFFFFF"/>
                </a:solidFill>
                <a:latin typeface="Noto Sans KR"/>
              </a:rPr>
              <a:t>IMPACT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39700" y="7391400"/>
            <a:ext cx="18034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200" b="1">
                <a:solidFill>
                  <a:srgbClr val="FFFFFF"/>
                </a:solidFill>
                <a:latin typeface="Noto Sans KR"/>
              </a:defRPr>
            </a:pPr>
            <a:r>
              <a:rPr i="0" sz="1200" b="1">
                <a:solidFill>
                  <a:srgbClr val="FFFFFF"/>
                </a:solidFill>
                <a:latin typeface="Noto Sans KR"/>
              </a:rPr>
              <a:t>GOAL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" y="7632700"/>
            <a:ext cx="90551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600" b="0">
                <a:solidFill>
                  <a:srgbClr val="DBEAFE"/>
                </a:solidFill>
                <a:latin typeface="Noto Sans KR"/>
              </a:rPr>
              <a:t>Clush는 독보적인 기술력을 바탕으로 조직의 </a:t>
            </a:r>
            <a:r>
              <a:rPr i="0" sz="1600" b="1">
                <a:solidFill>
                  <a:srgbClr val="DBEAFE"/>
                </a:solidFill>
                <a:latin typeface="Noto Sans KR"/>
              </a:rPr>
              <a:t>경쟁 우위</a:t>
            </a:r>
            <a:r>
              <a:rPr i="0" sz="1600" b="0">
                <a:solidFill>
                  <a:srgbClr val="DBEAFE"/>
                </a:solidFill>
                <a:latin typeface="Noto Sans KR"/>
              </a:rPr>
              <a:t>를 확보하고, 실무자를 위한 </a:t>
            </a:r>
            <a:r>
              <a:rPr i="0" sz="1600" b="1">
                <a:solidFill>
                  <a:srgbClr val="DBEAFE"/>
                </a:solidFill>
                <a:latin typeface="Noto Sans KR"/>
              </a:rPr>
              <a:t>최고의 지능형 파트너</a:t>
            </a:r>
            <a:r>
              <a:rPr i="0" sz="1600" b="0">
                <a:solidFill>
                  <a:srgbClr val="DBEAFE"/>
                </a:solidFill>
                <a:latin typeface="Noto Sans KR"/>
              </a:rPr>
              <a:t>로 자리매김하겠습니다. 데이터 기반의 의사결정과 자동화된 실행력을 통해 미래 기업의 표준을 제시합니다.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93400" y="7645400"/>
            <a:ext cx="16383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3000"/>
              </a:lnSpc>
              <a:defRPr i="0" sz="2400" b="1">
                <a:solidFill>
                  <a:srgbClr val="FFFFFF"/>
                </a:solidFill>
                <a:latin typeface="Noto Sans KR"/>
              </a:defRPr>
            </a:pPr>
            <a:r>
              <a:rPr i="0" sz="2400" b="1">
                <a:solidFill>
                  <a:srgbClr val="FFFFFF"/>
                </a:solidFill>
                <a:latin typeface="Noto Sans KR"/>
              </a:rPr>
              <a:t>Efficiency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39700" y="7645400"/>
            <a:ext cx="18034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3000"/>
              </a:lnSpc>
              <a:defRPr i="0" sz="2400" b="1">
                <a:solidFill>
                  <a:srgbClr val="FFFFFF"/>
                </a:solidFill>
                <a:latin typeface="Noto Sans KR"/>
              </a:defRPr>
            </a:pPr>
            <a:r>
              <a:rPr i="0" sz="2400" b="1">
                <a:solidFill>
                  <a:srgbClr val="FFFFFF"/>
                </a:solidFill>
                <a:latin typeface="Noto Sans KR"/>
              </a:rPr>
              <a:t>Innovation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0" y="9169400"/>
            <a:ext cx="16256000" cy="0"/>
          </a:xfrm>
          <a:prstGeom prst="line">
            <a:avLst/>
          </a:prstGeom>
          <a:ln w="12700">
            <a:solidFill>
              <a:srgbClr val="F3F4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12800" y="9588500"/>
            <a:ext cx="10922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9CA3AF"/>
                </a:solidFill>
                <a:latin typeface="Noto Sans KR"/>
              </a:defRPr>
            </a:pPr>
            <a:r>
              <a:rPr i="0" sz="1200" b="1">
                <a:solidFill>
                  <a:srgbClr val="9CA3AF"/>
                </a:solidFill>
                <a:latin typeface="Noto Sans KR"/>
              </a:rPr>
              <a:t>DATE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0" y="9588500"/>
            <a:ext cx="9906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9CA3AF"/>
                </a:solidFill>
                <a:latin typeface="Noto Sans KR"/>
              </a:defRPr>
            </a:pPr>
            <a:r>
              <a:rPr i="0" sz="1200" b="1">
                <a:solidFill>
                  <a:srgbClr val="9CA3AF"/>
                </a:solidFill>
                <a:latin typeface="Noto Sans KR"/>
              </a:rPr>
              <a:t>VERSION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43100" y="9690100"/>
            <a:ext cx="4953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defRPr i="0" sz="2400" b="1">
                <a:solidFill>
                  <a:srgbClr val="002D5D"/>
                </a:solidFill>
                <a:latin typeface="Noto Sans KR"/>
              </a:defRPr>
            </a:pPr>
            <a:r>
              <a:rPr i="0" sz="2400" b="1">
                <a:solidFill>
                  <a:srgbClr val="002D5D"/>
                </a:solidFill>
                <a:latin typeface="Noto Sans KR"/>
              </a:rPr>
              <a:t>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113000" y="9766300"/>
            <a:ext cx="457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D1D5DB"/>
                </a:solidFill>
                <a:latin typeface="Noto Sans KR"/>
              </a:defRPr>
            </a:pPr>
            <a:r>
              <a:rPr i="0" sz="1400" b="1">
                <a:solidFill>
                  <a:srgbClr val="D1D5DB"/>
                </a:solidFill>
                <a:latin typeface="Noto Sans KR"/>
              </a:rPr>
              <a:t>/ 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2800" y="9842500"/>
            <a:ext cx="1092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002D5D"/>
                </a:solidFill>
                <a:latin typeface="Noto Sans KR"/>
              </a:defRPr>
            </a:pPr>
            <a:r>
              <a:rPr i="0" sz="1400" b="1">
                <a:solidFill>
                  <a:srgbClr val="002D5D"/>
                </a:solidFill>
                <a:latin typeface="Noto Sans KR"/>
              </a:rPr>
              <a:t>2026-03-18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86000" y="9842500"/>
            <a:ext cx="990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002D5D"/>
                </a:solidFill>
                <a:latin typeface="Noto Sans KR"/>
              </a:defRPr>
            </a:pPr>
            <a:r>
              <a:rPr i="0" sz="1400" b="1">
                <a:solidFill>
                  <a:srgbClr val="002D5D"/>
                </a:solidFill>
                <a:latin typeface="Noto Sans KR"/>
              </a:rPr>
              <a:t>V1.0 Final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